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9FB4D6"/>
                </a:solidFill>
                <a:latin typeface="Calibri"/>
              </a:rPr>
              <a:t>O'ZBEKISTON RESPUBLIKASI OLIY TA'LIM, FAN VA INNOVATSIYALAR VAZIRLIGI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9FB4D6"/>
                </a:solidFill>
                <a:latin typeface="Calibri"/>
              </a:rPr>
              <a:t>«Elektr energetikasi» kafedrasi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2EA043"/>
                </a:solidFill>
                <a:latin typeface="Calibri"/>
              </a:rPr>
              <a:t>BITIRUV MALAKAVIY ISHI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0698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ELEKTR TA'MINOTI TIZIMLARIDA ENERGIYA SARFINI KAMAYTIRISH TEXNOLOGIYALARINI TADQIQOT QILISH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1">
                <a:solidFill>
                  <a:srgbClr val="C9D6EA"/>
                </a:solidFill>
                <a:latin typeface="Calibri"/>
              </a:rPr>
              <a:t>Buxoro viloyati «Vobkent» 110/35/10 kV podstansiyasi misolida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074920"/>
            <a:ext cx="85039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C9D6EA"/>
                </a:solidFill>
                <a:latin typeface="Calibri"/>
              </a:rPr>
              <a:t>Bajardi:  ____________________
Ilmiy rahbar:  ____________________
Kafedra mudiri:  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9FB4D6"/>
                </a:solidFill>
                <a:latin typeface="Calibri"/>
              </a:rPr>
              <a:t>Buxoro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Mavzuning dolzarbligi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KIRISH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6766560" cy="50292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6309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>
                <a:solidFill>
                  <a:srgbClr val="0D1B3A"/>
                </a:solidFill>
                <a:latin typeface="Calibri"/>
              </a:rPr>
              <a:t>•  Elektr energiyasi manbadan iste'molchigacha bo'lgan zanjirning har bir bo'g'inida bir qismi yo'qoladi.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>
                <a:solidFill>
                  <a:srgbClr val="0D1B3A"/>
                </a:solidFill>
                <a:latin typeface="Calibri"/>
              </a:rPr>
              <a:t>•  O'zbekiston tarmoqlarida texnik va tijoriy yo'qotishlar ulushi rivojlangan davlatlardan yuqori.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>
                <a:solidFill>
                  <a:srgbClr val="0D1B3A"/>
                </a:solidFill>
                <a:latin typeface="Calibri"/>
              </a:rPr>
              <a:t>•  Yo'qotishlarning asosiy qismi 6–10 kV va 0,4 kV taqsimlash tarmoqlarida yuzaga keladi.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>
                <a:solidFill>
                  <a:srgbClr val="0D1B3A"/>
                </a:solidFill>
                <a:latin typeface="Calibri"/>
              </a:rPr>
              <a:t>•  Tarmoqda tejalgan har bir kVt·s — manbada qo'shimcha ishlab chiqarilishi shart bo'lmagan energiya, yoqilg'i va chiqindi tejami.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>
                <a:solidFill>
                  <a:srgbClr val="0D1B3A"/>
                </a:solidFill>
                <a:latin typeface="Calibri"/>
              </a:rPr>
              <a:t>•  Yo'qotishlarni kamaytirish — yangi quvvat qurishdan ko'ra ancha arzon yo'l.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554480"/>
            <a:ext cx="4206240" cy="233172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83080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A043"/>
                </a:solidFill>
                <a:latin typeface="Calibri"/>
              </a:rPr>
              <a:t>Muammoning markazi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286000"/>
            <a:ext cx="3840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Isish yo'qotishlari tokning KVADRATIGA proporsional — kichik tok kamayishi katta tejam beradi.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069080"/>
            <a:ext cx="4206240" cy="23317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297680"/>
            <a:ext cx="38404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Zamonaviy vositalar:
• Reaktiv quvvat kompensatsiyasi
• Chastota o'zgartiruvchi qurilma
• AMI — aqlli hisob
• SCADA — dispetcher nazorati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Ishning maqsadi va vazifalari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KIRISH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120640" cy="5029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MAQSAD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4572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Elektr ta'minoti tizimlarida energiya sarfini kamaytirish texnologiyalarini nazariy va amaliy jihatdan tadqiq etish hamda tanlangan obyekt uchun texnik va iqtisodiy jihatdan asoslangan tavsiyalar ishlab chiqish.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417320"/>
            <a:ext cx="5852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D1B3A"/>
                </a:solidFill>
                <a:latin typeface="Calibri"/>
              </a:rPr>
              <a:t>VAZIFALAR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92024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0D1B3A"/>
                </a:solidFill>
                <a:latin typeface="Calibri"/>
              </a:rPr>
              <a:t>•  Yo'qotishlar turlari va yuzaga kelish mexanizmlarini o'rganish;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0D1B3A"/>
                </a:solidFill>
                <a:latin typeface="Calibri"/>
              </a:rPr>
              <a:t>•  Podstansiya va 10 kV tarmoqda yuklama, kuchlanish pasayishi, transformator va kabel yo'qotishlarini hisoblash;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0D1B3A"/>
                </a:solidFill>
                <a:latin typeface="Calibri"/>
              </a:rPr>
              <a:t>•  Garmonik buzilishlar va energiya sifatini baholash;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0D1B3A"/>
                </a:solidFill>
                <a:latin typeface="Calibri"/>
              </a:rPr>
              <a:t>•  Zamonaviy texnologiyalar ishlash tamoyilini tahlil qilish;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0D1B3A"/>
                </a:solidFill>
                <a:latin typeface="Calibri"/>
              </a:rPr>
              <a:t>•  Choralar texnik samarasi va qaytish muddatini hisoblash;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0D1B3A"/>
                </a:solidFill>
                <a:latin typeface="Calibri"/>
              </a:rPr>
              <a:t>•  Elektr xavfsizligi va mehnat muhofazasi tavsiyalarini berish.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Tadqiqot obyekti va predmeti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KIRISH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20116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6FEB"/>
                </a:solidFill>
                <a:latin typeface="Calibri"/>
              </a:rPr>
              <a:t>OBYEKT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0D1B3A"/>
                </a:solidFill>
                <a:latin typeface="Calibri"/>
              </a:rPr>
              <a:t>Buxoro viloyati Vobkent tumanidagi «Vobkent» 110/35/10 kV taqsimlash podstansiyasi va unga ulangan 10 kV taqsimlash tarmog'i. Modernizatsiya doirasida 16 000 kVA transformator 25 000 kVA quvvatli transformatorga almashtirilgan. («Buxoro hududiy elektr tarmoqlari korxonasi» AJ).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66160"/>
            <a:ext cx="11247120" cy="118872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EA043"/>
                </a:solidFill>
                <a:latin typeface="Calibri"/>
              </a:rPr>
              <a:t>PREDMET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Tizimda energiya yo'qotishlarini kamaytirish texnologiyalari va ularning samaradorligini baholash usullari.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983480"/>
            <a:ext cx="269748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512064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110/35/10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06440"/>
            <a:ext cx="2697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kV kuchlanish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4408" y="4983480"/>
            <a:ext cx="269748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512064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25 000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5806440"/>
            <a:ext cx="2697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kVA transformator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71616" y="4983480"/>
            <a:ext cx="269748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512064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1616" y="5806440"/>
            <a:ext cx="2697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ta 10 kV fider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78824" y="4983480"/>
            <a:ext cx="269748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78824" y="512064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78824" y="5806440"/>
            <a:ext cx="2697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GVt·s yillik energiya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 bob. Yo'qotishlarning nazariy asoslari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NAZARIYA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Yo'qotishlar tabiati bo'yicha: YUKLAMAGA BOG'LIQ (o'zgaruvchan) va DOIMIY (salt yurish);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Kelib chiqishi bo'yicha: TEXNIK va TIJORIY;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Yuklama yo'qotishi:  ΔP = 3·I²·R  — tok kvadratiga bog'liq;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Reaktiv quvvat to'liq tokni oshiradi → barcha elementlarda yo'qotish ortadi;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Energiya sifati: kuchlanish chetlanishi, THD (garmonik buzilish);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Iqtisodiy tok zichligi — o'tkazgich en kesimini optimal tanlash mezoni.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463040"/>
            <a:ext cx="5212080" cy="21031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0020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Calibri"/>
              </a:rPr>
              <a:t>Asosiy 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057400"/>
            <a:ext cx="48463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0D1B3A"/>
                </a:solidFill>
                <a:latin typeface="Calibri"/>
              </a:rPr>
              <a:t>ΔP = 3 · I² · R
Tok 2 barobar oshsa — yo'qotish 4 barobar ortadi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3749039"/>
            <a:ext cx="5212080" cy="26517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39319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EA043"/>
                </a:solidFill>
                <a:latin typeface="Calibri"/>
              </a:rPr>
              <a:t>Nazariy baza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389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Yu. S. Jelezko — yo'qotish va reaktiv quvvat hisobi
V. I. Idelchik — tarmoq rejimlari nazariyasi
F. F. Karpov — reaktiv quvvat kompensatsiyasi
GOST 32144 — energiya sifati normalari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Yuklama tahlili va sutkalik grafik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TAHLIL · 2.1</a:t>
            </a:r>
          </a:p>
        </p:txBody>
      </p:sp>
      <p:pic>
        <p:nvPicPr>
          <p:cNvPr id="6" name="Picture 5" descr="01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65960"/>
            <a:ext cx="7315200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63840" y="1463040"/>
            <a:ext cx="3931920" cy="48463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645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6FEB"/>
                </a:solidFill>
                <a:latin typeface="Calibri"/>
              </a:rPr>
              <a:t>Asosiy ko'rsatkichlar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14884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444C56"/>
                </a:solidFill>
                <a:latin typeface="Calibri"/>
              </a:rPr>
              <a:t>Pₘₐₓ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441448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0D1B3A"/>
                </a:solidFill>
                <a:latin typeface="Calibri"/>
              </a:rPr>
              <a:t>12,0 MVt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310896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444C56"/>
                </a:solidFill>
                <a:latin typeface="Calibri"/>
              </a:rPr>
              <a:t>Pₒ'ʳ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401568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0D1B3A"/>
                </a:solidFill>
                <a:latin typeface="Calibri"/>
              </a:rPr>
              <a:t>9,05 MVt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0690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444C56"/>
                </a:solidFill>
                <a:latin typeface="Calibri"/>
              </a:rPr>
              <a:t>k_t (to'ldirilganlik)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361688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0D1B3A"/>
                </a:solidFill>
                <a:latin typeface="Calibri"/>
              </a:rPr>
              <a:t>0,75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502920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444C56"/>
                </a:solidFill>
                <a:latin typeface="Calibri"/>
              </a:rPr>
              <a:t>Yillik energiya 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5321808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0D1B3A"/>
                </a:solidFill>
                <a:latin typeface="Calibri"/>
              </a:rPr>
              <a:t>60 GVt·s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Transformator va fider yo'qotishlari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TAHLIL · 2.2</a:t>
            </a:r>
          </a:p>
        </p:txBody>
      </p:sp>
      <p:pic>
        <p:nvPicPr>
          <p:cNvPr id="6" name="Picture 5" descr="03_fee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61972"/>
            <a:ext cx="6949440" cy="3648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55448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Transformator salt yurish: 219 MVt·s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Transformator yuklama: 131 MVt·s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Jami transformator: 349,6 MVt·s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10 kV fiderlar (jami): 866 MVt·s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4297680"/>
            <a:ext cx="4389120" cy="2011680"/>
          </a:xfrm>
          <a:prstGeom prst="rect">
            <a:avLst/>
          </a:prstGeom>
          <a:solidFill>
            <a:srgbClr val="E36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4480560"/>
            <a:ext cx="40233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Eng katta yo'qotish:
F-2, F-4, F-5 — uzun qishloq fiderlari.
Sabab: katta uzunlik (5–6 km) va kichik en kesim (70 mm²).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Yillik yo'qotishlar tarkibi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TAHLIL · 2.3</a:t>
            </a:r>
          </a:p>
        </p:txBody>
      </p:sp>
      <p:pic>
        <p:nvPicPr>
          <p:cNvPr id="6" name="Picture 5" descr="02_losse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34886"/>
            <a:ext cx="6583680" cy="47026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223760" y="1554480"/>
            <a:ext cx="4572000" cy="2194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828800"/>
            <a:ext cx="420624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Yillik texnik yo'qotish:
1760 MVt·s
= uzatilgan energiyaning 2,9 %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977639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68 % dan ortig'i — 10 kV bo'g'inda;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10 kV fiderlar — 49,2 % (eng katta ulush);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Demak asosiy zaxira aynan taqsimlash tarmog'ida.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Quvvat koeffitsienti va garmonikalar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TAHLIL · 2.3</a:t>
            </a:r>
          </a:p>
        </p:txBody>
      </p:sp>
      <p:pic>
        <p:nvPicPr>
          <p:cNvPr id="6" name="Picture 5" descr="04_t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09978"/>
            <a:ext cx="6766560" cy="35524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0" y="1554480"/>
            <a:ext cx="4480560" cy="21945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Calibri"/>
              </a:rPr>
              <a:t>Quvvat koeffitsienti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148840"/>
            <a:ext cx="4114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D1B3A"/>
                </a:solidFill>
                <a:latin typeface="Calibri"/>
              </a:rPr>
              <a:t>cos φ = 0,85   →   tan φ = 0,62
Qₘₐₓ = 7440 kVar
Sₘₐₓ = 14,12 MVA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3931920"/>
            <a:ext cx="4480560" cy="2377440"/>
          </a:xfrm>
          <a:prstGeom prst="rect">
            <a:avLst/>
          </a:prstGeom>
          <a:solidFill>
            <a:srgbClr val="E36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4114800"/>
            <a:ext cx="4114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THD = 8,8 %
(8 % chegaradan yuqori)
Yechim: kondensator batareyalarini rezonansdan himoyalovchi sozlangan drossel (filtr-reaktor) bilan o'rnatish.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Qisqa tutashuv toklari va zaxiralar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TAHLIL · 2.4–2.5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657600" cy="1737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11,9 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Qisqa tutashuv toki, Iₖ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7" y="1463040"/>
            <a:ext cx="3657600" cy="1737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1687" y="164592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30,3 kA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7" y="251460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Zarba toki, iₐ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4" y="1463040"/>
            <a:ext cx="3657600" cy="1737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6174" y="164592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6174" y="251460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Taqsimlash qurilmasi
shartlarga javob beradi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0D1B3A"/>
                </a:solidFill>
                <a:latin typeface="Calibri"/>
              </a:rPr>
              <a:t>Yo'qotishlarni kamaytirish zaxiralari: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>
                <a:solidFill>
                  <a:srgbClr val="0D1B3A"/>
                </a:solidFill>
                <a:latin typeface="Calibri"/>
              </a:rPr>
              <a:t>•  cos φ ni 0,85 → 0,95 ga ko'tarish — yuklamaga bog'liq yo'qotishlarni ≈ 20 % kamaytiradi;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>
                <a:solidFill>
                  <a:srgbClr val="0D1B3A"/>
                </a:solidFill>
                <a:latin typeface="Calibri"/>
              </a:rPr>
              <a:t>•  Transformator ish rejimini optimallashtirish — QO'SHIMCHA INVESTITSIYASIZ yiliga ≈ 153 MVt·s tejam;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>
                <a:solidFill>
                  <a:srgbClr val="0D1B3A"/>
                </a:solidFill>
                <a:latin typeface="Calibri"/>
              </a:rPr>
              <a:t>•  Uzun fiderlarni balanslash va en kesimni oshirish;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>
                <a:solidFill>
                  <a:srgbClr val="0D1B3A"/>
                </a:solidFill>
                <a:latin typeface="Calibri"/>
              </a:rPr>
              <a:t>•  Garmonikalarni filtr orqali cheklash (THD &lt; 5 %).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III bob. Kamaytirish texnologiyalari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YECHIM · 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64592" cy="10789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325880"/>
            <a:ext cx="11109960" cy="107899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1732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F6FEB"/>
                </a:solidFill>
                <a:latin typeface="Calibri"/>
              </a:rPr>
              <a:t>Reaktiv quvvat kompensatsiyasi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444C56"/>
                </a:solidFill>
                <a:latin typeface="Calibri"/>
              </a:rPr>
              <a:t>Q_k = 3500 kVar avtomatik kondensator (UKRM). S: 14,12 → 12,63 MVA. Yo'qotish −20 % ≈ 284 MVt·s/yil.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51176"/>
            <a:ext cx="164592" cy="1078992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2551176"/>
            <a:ext cx="11109960" cy="107899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42616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2EA043"/>
                </a:solidFill>
                <a:latin typeface="Calibri"/>
              </a:rPr>
              <a:t>Chastota o'zgartiruvchi qurilma (ChOQ)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444C56"/>
                </a:solidFill>
                <a:latin typeface="Calibri"/>
              </a:rPr>
              <a:t>Nasos yuklamasini PID rostlash. Tejam ≈ 180 MVt·s/yil, qaytish ≈ 0,9 yil — eng tez.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76472"/>
            <a:ext cx="164592" cy="1078992"/>
          </a:xfrm>
          <a:prstGeom prst="rect">
            <a:avLst/>
          </a:prstGeom>
          <a:solidFill>
            <a:srgbClr val="E36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3776472"/>
            <a:ext cx="11109960" cy="107899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67912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E3611C"/>
                </a:solidFill>
                <a:latin typeface="Calibri"/>
              </a:rPr>
              <a:t>AMI — aqlli hisobga olish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79392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444C56"/>
                </a:solidFill>
                <a:latin typeface="Calibri"/>
              </a:rPr>
              <a:t>Masofadan o'qish, ikki tomonlama aloqa. Tijoriy yo'qotishni keskin kamaytiradi: ≈ 1200 MVt·s/yil.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01768"/>
            <a:ext cx="164592" cy="1078992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" y="5001768"/>
            <a:ext cx="11109960" cy="107899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9320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D1B3A"/>
                </a:solidFill>
                <a:latin typeface="Calibri"/>
              </a:rPr>
              <a:t>SCADA / PLC / IoT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504688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444C56"/>
                </a:solidFill>
                <a:latin typeface="Calibri"/>
              </a:rPr>
              <a:t>Real vaqtda nazorat va tarmoq balanslash. Tejam ≈ 240 MVt·s/yil.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Choralar samaradorligi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IQTISOD · 3.4</a:t>
            </a:r>
          </a:p>
        </p:txBody>
      </p:sp>
      <p:pic>
        <p:nvPicPr>
          <p:cNvPr id="6" name="Picture 5" descr="05_mea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17954"/>
            <a:ext cx="7498079" cy="393649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0" y="1554480"/>
            <a:ext cx="3749039" cy="475488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EA043"/>
                </a:solidFill>
                <a:latin typeface="Calibri"/>
              </a:rPr>
              <a:t>Majmua (jami)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19456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9FB4D6"/>
                </a:solidFill>
                <a:latin typeface="Calibri"/>
              </a:rPr>
              <a:t>Tejam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468880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1904 MVt·s/yil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15468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9FB4D6"/>
                </a:solidFill>
                <a:latin typeface="Calibri"/>
              </a:rPr>
              <a:t>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429000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1142 mln so'm/yil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11480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9FB4D6"/>
                </a:solidFill>
                <a:latin typeface="Calibri"/>
              </a:rPr>
              <a:t>Investitsiya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389120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3003 mln so'm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0749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9FB4D6"/>
                </a:solidFill>
                <a:latin typeface="Calibri"/>
              </a:rPr>
              <a:t>Qaytish (T_q)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349240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≈ 2,6 yil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Iqtisodiy asoslash: NPV va qaytish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IQTISOD · 3.4</a:t>
            </a:r>
          </a:p>
        </p:txBody>
      </p:sp>
      <p:pic>
        <p:nvPicPr>
          <p:cNvPr id="6" name="Picture 5" descr="06_cash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17954"/>
            <a:ext cx="7498079" cy="393649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0" y="1554480"/>
            <a:ext cx="3749039" cy="22860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783080"/>
            <a:ext cx="33832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NPV ≈ 1930 mln so'm
(r = 15 %, 8 yil)
NPV &gt; 0 → loyiha iqtisodiy jihatdan ASOSLANGAN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023360"/>
            <a:ext cx="374903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>
                <a:solidFill>
                  <a:srgbClr val="0D1B3A"/>
                </a:solidFill>
                <a:latin typeface="Calibri"/>
              </a:rPr>
              <a:t>•  Sof oqim ≈ 2,7-yilda musbatga o'tadi;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>
                <a:solidFill>
                  <a:srgbClr val="0D1B3A"/>
                </a:solidFill>
                <a:latin typeface="Calibri"/>
              </a:rPr>
              <a:t>•  Diskontlangan tejam ≈ 4936 mln so'm;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>
                <a:solidFill>
                  <a:srgbClr val="0D1B3A"/>
                </a:solidFill>
                <a:latin typeface="Calibri"/>
              </a:rPr>
              <a:t>•  Tarif oshsa NPV ham ortadi (sezgirlik tahlili).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Natija: choralargacha va keyin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NATIJA</a:t>
            </a:r>
          </a:p>
        </p:txBody>
      </p:sp>
      <p:pic>
        <p:nvPicPr>
          <p:cNvPr id="6" name="Picture 5" descr="07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17954"/>
            <a:ext cx="7498079" cy="393649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0" y="1554480"/>
            <a:ext cx="3749039" cy="47548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6FEB"/>
                </a:solidFill>
                <a:latin typeface="Calibri"/>
              </a:rPr>
              <a:t>Qiyosiy o'zgarish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19456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444C56"/>
                </a:solidFill>
                <a:latin typeface="Calibri"/>
              </a:rPr>
              <a:t>cos 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450592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D1B3A"/>
                </a:solidFill>
                <a:latin typeface="Calibri"/>
              </a:rPr>
              <a:t>0,85 → 0,95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980944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444C56"/>
                </a:solidFill>
                <a:latin typeface="Calibri"/>
              </a:rPr>
              <a:t>To'liq quvvat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236976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D1B3A"/>
                </a:solidFill>
                <a:latin typeface="Calibri"/>
              </a:rPr>
              <a:t>14,12 → 12,63 MVA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767328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444C56"/>
                </a:solidFill>
                <a:latin typeface="Calibri"/>
              </a:rPr>
              <a:t>THD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023360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D1B3A"/>
                </a:solidFill>
                <a:latin typeface="Calibri"/>
              </a:rPr>
              <a:t>8,8 % → &lt; 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553712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444C56"/>
                </a:solidFill>
                <a:latin typeface="Calibri"/>
              </a:rPr>
              <a:t>Umumiy yo'qotish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809744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D1B3A"/>
                </a:solidFill>
                <a:latin typeface="Calibri"/>
              </a:rPr>
              <a:t>≈ 5,0 % → ≈ 3,0 %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340096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444C56"/>
                </a:solidFill>
                <a:latin typeface="Calibri"/>
              </a:rPr>
              <a:t>Tijoriy yo'qotish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5596128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D1B3A"/>
                </a:solidFill>
                <a:latin typeface="Calibri"/>
              </a:rPr>
              <a:t>≈ 2,0 % → ≈ 0,5 %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Hayot faoliyati xavfsizligi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BOB 3.5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577840" cy="48463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6FEB"/>
                </a:solidFill>
                <a:latin typeface="Calibri"/>
              </a:rPr>
              <a:t>Elektr xavfsizligi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0D1B3A"/>
                </a:solidFill>
                <a:latin typeface="Calibri"/>
              </a:rPr>
              <a:t>•  Yerga ulash va zanulleniye (GOST 12.1.030);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0D1B3A"/>
                </a:solidFill>
                <a:latin typeface="Calibri"/>
              </a:rPr>
              <a:t>•  Tegish kuchlanishi va tok chegaralari (GOST 12.1.038);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0D1B3A"/>
                </a:solidFill>
                <a:latin typeface="Calibri"/>
              </a:rPr>
              <a:t>•  Shaxsiy himoya vositalari (SHHV);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0D1B3A"/>
                </a:solidFill>
                <a:latin typeface="Calibri"/>
              </a:rPr>
              <a:t>•  Relay himoyasi: maksimal tok, differensial, gaz himoyasi;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0D1B3A"/>
                </a:solidFill>
                <a:latin typeface="Calibri"/>
              </a:rPr>
              <a:t>•  Bloklash va ogohlantiruvchi belgilar.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EA043"/>
                </a:solidFill>
                <a:latin typeface="Calibri"/>
              </a:rPr>
              <a:t>Yong'in, ekologiya, sanitariya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Transformator moyi — yong'in xavfi, moy yig'gich;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Yong'inga qarshi vositalar va avtomatik signalizatsiya;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Elektromagnit maydon va shovqin me'yorlari;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Ishlab chiqarish chiqindilarini boshqarish;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Sanitariya-gigiyena talablariga rioya.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Xulosa va tavsiyalar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</a:rPr>
              <a:t>YAKUN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338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Yo'qotishlar tabiati nazariy asoslandi: ular tok kvadratiga va reaktiv quvvatga bog'liq.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Yillik texnik yo'qotish 1760 MVt·s (2,9 %), 68 % dan ortig'i — 10 kV bo'g'inda.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cos φ ni 0,95 ga ko'tarish yuklamaga bog'liq yo'qotishlarni ≈ 20 % kamaytiradi.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Transformator rejimini optimallashtirish — xarajatsiz ≈ 153 MVt·s/yil tejam.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600">
                <a:solidFill>
                  <a:srgbClr val="0D1B3A"/>
                </a:solidFill>
                <a:latin typeface="Calibri"/>
              </a:rPr>
              <a:t>•  Choralar qaytishi 0,9–4,5 yil; majmua uchun NPV ≈ 1930 mln so'm (musbat → asoslangan).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892040"/>
            <a:ext cx="1124712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0292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Tavsiya etilgan ketma-ketlik: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44068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1) Transformator rejimini optimallashtirish (xarajatsiz)  →  2) ChOQ  →  3) Reaktiv quvvat kompensatsiyasi  →  4) AMI  →  5) SCADA va balanslash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444C5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3063240"/>
            <a:ext cx="3931920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E'tiboringiz uchun rahmat!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9FB4D6"/>
                </a:solidFill>
                <a:latin typeface="Calibri"/>
              </a:rPr>
              <a:t>Savollaringizga javob berishga tayyorman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6F82A6"/>
                </a:solidFill>
                <a:latin typeface="Calibri"/>
              </a:rPr>
              <a:t>Vobkent 110/35/10 kV podstansiyasi  ·  Buxoro —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