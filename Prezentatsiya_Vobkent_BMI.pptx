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50292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523744"/>
            <a:ext cx="502920" cy="3810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578608"/>
            <a:ext cx="50292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D6"/>
                </a:solidFill>
                <a:latin typeface="Calibri"/>
              </a:rPr>
              <a:t>O'ZBEKISTON RESPUBLIKASI OLIY TA'LIM, FAN VA INNOVATSIYALAR VAZIRLIGI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9144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FB4D6"/>
                </a:solidFill>
                <a:latin typeface="Calibri"/>
              </a:rPr>
              <a:t>____________________ universiteti  ·  «Elektr energetikasi» kafedrasi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6002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6002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BITIRUV MALAKAVIY ISHI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ELEKTR TA'MINOTI TIZIMLARIDA</a:t>
            </a:r>
          </a:p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ENERGIYA SARFINI KAMAYTIRISH TEXNOLOGIYALARI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605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C9D6EA"/>
                </a:solidFill>
                <a:latin typeface="Calibri"/>
              </a:rPr>
              <a:t>Buxoro viloyati «Vobkent» 110/35/10 kV podstansiyasi misolida tadqiqot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4983480"/>
            <a:ext cx="8869680" cy="1143000"/>
          </a:xfrm>
          <a:prstGeom prst="rect">
            <a:avLst/>
          </a:prstGeom>
          <a:solidFill>
            <a:srgbClr val="10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5138928"/>
            <a:ext cx="8321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1F0"/>
                </a:solidFill>
                <a:latin typeface="Calibri"/>
              </a:rPr>
              <a:t>Bajardi:               ____________________________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1F0"/>
                </a:solidFill>
                <a:latin typeface="Calibri"/>
              </a:rPr>
              <a:t>Ilmiy rahbar:        ____________________________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7E1F0"/>
                </a:solidFill>
                <a:latin typeface="Calibri"/>
              </a:rPr>
              <a:t>«Himoyaga ruxsat etildi». Kafedra mudiri:  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A5A4"/>
                </a:solidFill>
                <a:latin typeface="Calibri"/>
              </a:rPr>
              <a:t>BUXORO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TAQDIMOT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Himoya tuzilmasi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927080" cy="8412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6200" cy="8412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53619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Kirish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9280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Dolzarblik, maqsad, vazifalar, obyekt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68296"/>
            <a:ext cx="10927080" cy="8412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368296"/>
            <a:ext cx="76200" cy="84124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68296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A5A4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8716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I bob — Nazariy asoslar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843784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Yo'qotish turlari, energiya sifati, en kesim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19272"/>
            <a:ext cx="10927080" cy="8412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19272"/>
            <a:ext cx="76200" cy="8412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319272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A34A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438144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II bob — Tahlil va hisoblar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794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Yuklama, transformator, fider, balans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70248"/>
            <a:ext cx="10927080" cy="8412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70248"/>
            <a:ext cx="76200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70248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389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III bob — Texnologiyalar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74573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Kompensatsiya, ChOQ, AMI, SCADA, iqtisod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221224"/>
            <a:ext cx="10927080" cy="8412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221224"/>
            <a:ext cx="76200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21224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7C3AED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340096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Xavfsizlik va xulosa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69671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Mehnat muhofazasi, natijalar, tavsiyalar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KIRISH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Mavzuning dolzarbligi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6766560" cy="4937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563EB"/>
                </a:solidFill>
                <a:latin typeface="Calibri"/>
              </a:rPr>
              <a:t>▸  </a:t>
            </a:r>
            <a:r>
              <a:rPr sz="1650">
                <a:solidFill>
                  <a:srgbClr val="1F2A3A"/>
                </a:solidFill>
                <a:latin typeface="Calibri"/>
              </a:rPr>
              <a:t>Energiya manbadan iste'molchigacha bo'lgan zanjirning har bir bo'g'inida bir qismi yo'qoladi.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563EB"/>
                </a:solidFill>
                <a:latin typeface="Calibri"/>
              </a:rPr>
              <a:t>▸  </a:t>
            </a:r>
            <a:r>
              <a:rPr sz="1650">
                <a:solidFill>
                  <a:srgbClr val="1F2A3A"/>
                </a:solidFill>
                <a:latin typeface="Calibri"/>
              </a:rPr>
              <a:t>O'zbekiston tarmoqlarida texnik va tijoriy yo'qotishlar ulushi rivojlangan davlatlardan yuqori.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563EB"/>
                </a:solidFill>
                <a:latin typeface="Calibri"/>
              </a:rPr>
              <a:t>▸  </a:t>
            </a:r>
            <a:r>
              <a:rPr sz="1650">
                <a:solidFill>
                  <a:srgbClr val="1F2A3A"/>
                </a:solidFill>
                <a:latin typeface="Calibri"/>
              </a:rPr>
              <a:t>Yo'qotishlarning asosiy qismi 6–10 kV va 0,4 kV taqsimlash tarmoqlarida yuzaga keladi.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563EB"/>
                </a:solidFill>
                <a:latin typeface="Calibri"/>
              </a:rPr>
              <a:t>▸  </a:t>
            </a:r>
            <a:r>
              <a:rPr sz="1650">
                <a:solidFill>
                  <a:srgbClr val="1F2A3A"/>
                </a:solidFill>
                <a:latin typeface="Calibri"/>
              </a:rPr>
              <a:t>Tarmoqda tejalgan har bir kVt·s — manbada qo'shimcha ishlab chiqarish, yoqilg'i va chiqindi tejami.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563EB"/>
                </a:solidFill>
                <a:latin typeface="Calibri"/>
              </a:rPr>
              <a:t>▸  </a:t>
            </a:r>
            <a:r>
              <a:rPr sz="1650">
                <a:solidFill>
                  <a:srgbClr val="1F2A3A"/>
                </a:solidFill>
                <a:latin typeface="Calibri"/>
              </a:rPr>
              <a:t>Yo'qotishni kamaytirish — yangi quvvat qurishga qaraganda ancha arzon yo'l.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325880"/>
            <a:ext cx="3931920" cy="23317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0876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MUAMMONING MOHIYATI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965960"/>
            <a:ext cx="3520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Isish yo'qotishlari tokning KVADRATIGA proporsional: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ΔP = 3·I²·R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→ tokning kichik kamayishi katta tejam beradi.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3794760"/>
            <a:ext cx="3931920" cy="24688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950208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563EB"/>
                </a:solidFill>
                <a:latin typeface="Calibri"/>
              </a:rPr>
              <a:t>ZAMONAVIY VOSITALAR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370832"/>
            <a:ext cx="352044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>
                <a:solidFill>
                  <a:srgbClr val="1F2A3A"/>
                </a:solidFill>
                <a:latin typeface="Calibri"/>
              </a:rPr>
              <a:t>Reaktiv quvvat kompensatsiyasi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>
                <a:solidFill>
                  <a:srgbClr val="1F2A3A"/>
                </a:solidFill>
                <a:latin typeface="Calibri"/>
              </a:rPr>
              <a:t>Chastota o'zgartiruvchi qurilma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>
                <a:solidFill>
                  <a:srgbClr val="1F2A3A"/>
                </a:solidFill>
                <a:latin typeface="Calibri"/>
              </a:rPr>
              <a:t>AMI — aqlli hisobga olish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>
                <a:solidFill>
                  <a:srgbClr val="1F2A3A"/>
                </a:solidFill>
                <a:latin typeface="Calibri"/>
              </a:rPr>
              <a:t>SCADA — dispetcher nazorati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KIRISH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Ishning maqsadi va vazifalari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4754880" cy="48463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4754880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MAQSAD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2976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 i="0">
                <a:solidFill>
                  <a:srgbClr val="E6EDF7"/>
                </a:solidFill>
                <a:latin typeface="Calibri"/>
              </a:rPr>
              <a:t>Elektr ta'minoti tizimlarida energiya sarfini kamaytirish texnologiyalarini nazariy va amaliy jihatdan tadqiq etish hamda tanlangan obyekt uchun texnik va iqtisodiy jihatdan asoslangan tavsiyalar ishlab chiqish.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371600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VAZIFALAR</a:t>
            </a:r>
          </a:p>
        </p:txBody>
      </p:sp>
      <p:sp>
        <p:nvSpPr>
          <p:cNvPr id="12" name="Oval 11"/>
          <p:cNvSpPr/>
          <p:nvPr/>
        </p:nvSpPr>
        <p:spPr>
          <a:xfrm>
            <a:off x="5715000" y="1874519"/>
            <a:ext cx="365760" cy="36576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87451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56231"/>
            <a:ext cx="5349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1F2A3A"/>
                </a:solidFill>
                <a:latin typeface="Calibri"/>
              </a:rPr>
              <a:t>Yo'qotish turlari va yuzaga kelish mexanizmlarini nazariy o'rganish;</a:t>
            </a:r>
          </a:p>
        </p:txBody>
      </p:sp>
      <p:sp>
        <p:nvSpPr>
          <p:cNvPr id="15" name="Oval 14"/>
          <p:cNvSpPr/>
          <p:nvPr/>
        </p:nvSpPr>
        <p:spPr>
          <a:xfrm>
            <a:off x="5715000" y="2587751"/>
            <a:ext cx="365760" cy="36576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58775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69463"/>
            <a:ext cx="5349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1F2A3A"/>
                </a:solidFill>
                <a:latin typeface="Calibri"/>
              </a:rPr>
              <a:t>Yuklama, kuchlanish pasayishi, transformator va kabel yo'qotishlarini hisoblash;</a:t>
            </a:r>
          </a:p>
        </p:txBody>
      </p:sp>
      <p:sp>
        <p:nvSpPr>
          <p:cNvPr id="18" name="Oval 17"/>
          <p:cNvSpPr/>
          <p:nvPr/>
        </p:nvSpPr>
        <p:spPr>
          <a:xfrm>
            <a:off x="5715000" y="3300983"/>
            <a:ext cx="365760" cy="36576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3300983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82695"/>
            <a:ext cx="5349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1F2A3A"/>
                </a:solidFill>
                <a:latin typeface="Calibri"/>
              </a:rPr>
              <a:t>Garmonik buzilishlar va elektr energiyasi sifatini baholash;</a:t>
            </a:r>
          </a:p>
        </p:txBody>
      </p:sp>
      <p:sp>
        <p:nvSpPr>
          <p:cNvPr id="21" name="Oval 20"/>
          <p:cNvSpPr/>
          <p:nvPr/>
        </p:nvSpPr>
        <p:spPr>
          <a:xfrm>
            <a:off x="5715000" y="4014215"/>
            <a:ext cx="365760" cy="36576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4014215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995927"/>
            <a:ext cx="5349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1F2A3A"/>
                </a:solidFill>
                <a:latin typeface="Calibri"/>
              </a:rPr>
              <a:t>Zamonaviy texnologiyalar ishlash tamoyili va shartlarini tahlil qilish;</a:t>
            </a:r>
          </a:p>
        </p:txBody>
      </p:sp>
      <p:sp>
        <p:nvSpPr>
          <p:cNvPr id="24" name="Oval 23"/>
          <p:cNvSpPr/>
          <p:nvPr/>
        </p:nvSpPr>
        <p:spPr>
          <a:xfrm>
            <a:off x="5715000" y="4727447"/>
            <a:ext cx="365760" cy="36576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472744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709159"/>
            <a:ext cx="5349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1F2A3A"/>
                </a:solidFill>
                <a:latin typeface="Calibri"/>
              </a:rPr>
              <a:t>Choralar texnik samarasi va investitsiya qaytish muddatini hisoblash;</a:t>
            </a:r>
          </a:p>
        </p:txBody>
      </p:sp>
      <p:sp>
        <p:nvSpPr>
          <p:cNvPr id="27" name="Oval 26"/>
          <p:cNvSpPr/>
          <p:nvPr/>
        </p:nvSpPr>
        <p:spPr>
          <a:xfrm>
            <a:off x="5715000" y="5440679"/>
            <a:ext cx="365760" cy="36576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5440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422391"/>
            <a:ext cx="5349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1F2A3A"/>
                </a:solidFill>
                <a:latin typeface="Calibri"/>
              </a:rPr>
              <a:t>Elektr xavfsizligi va mehnat muhofazasi tavsiyalarini berish.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KIRISH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Tadqiqot obyekti va predmeti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27080" cy="1554480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6200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563EB"/>
                </a:solidFill>
                <a:latin typeface="Calibri"/>
              </a:rPr>
              <a:t>OBYEKT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47088"/>
            <a:ext cx="10424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A3A"/>
                </a:solidFill>
                <a:latin typeface="Calibri"/>
              </a:rPr>
              <a:t>Buxoro viloyati Vobkent tumanidagi «Vobkent» 110/35/10 kV taqsimlash podstansiyasi va unga ulangan 10 kV taqsimlash tarmog'i. Modernizatsiya doirasida 16 000 kVA transformator 25 000 kVA quvvatli transformatorga almashtirilgan («Buxoro hududiy elektr tarmoqlari korxonasi» AJ).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10927080" cy="9601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76200" cy="9601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A5A4"/>
                </a:solidFill>
                <a:latin typeface="Calibri"/>
              </a:rPr>
              <a:t>PREDMET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Tizimda energiya yo'qotishlarini kamaytirish texnologiyalari va ularning samaradorligini baholash usullari.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2615184" cy="14173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51960"/>
            <a:ext cx="6350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361688"/>
            <a:ext cx="2340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2540"/>
                </a:solidFill>
                <a:latin typeface="Calibri"/>
              </a:rPr>
              <a:t>110/35/10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193792"/>
            <a:ext cx="23408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kV kuchlanish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4136" y="4251960"/>
            <a:ext cx="2615184" cy="14173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74136" y="4251960"/>
            <a:ext cx="63500" cy="14173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4361688"/>
            <a:ext cx="2340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2540"/>
                </a:solidFill>
                <a:latin typeface="Calibri"/>
              </a:rPr>
              <a:t>25 000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5193792"/>
            <a:ext cx="23408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kVA transformator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8192" y="4251960"/>
            <a:ext cx="2615184" cy="14173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08192" y="4251960"/>
            <a:ext cx="63500" cy="14173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4361688"/>
            <a:ext cx="2340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2540"/>
                </a:solidFill>
                <a:latin typeface="Calibri"/>
              </a:rPr>
              <a:t>8 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5193792"/>
            <a:ext cx="23408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10 kV fider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42248" y="4251960"/>
            <a:ext cx="2615184" cy="14173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42248" y="4251960"/>
            <a:ext cx="6350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4361688"/>
            <a:ext cx="2340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2540"/>
                </a:solidFill>
                <a:latin typeface="Calibri"/>
              </a:rPr>
              <a:t>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5193792"/>
            <a:ext cx="23408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GVt·s yillik energiya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371600"/>
          </a:xfrm>
          <a:prstGeom prst="rect">
            <a:avLst/>
          </a:prstGeom>
          <a:solidFill>
            <a:srgbClr val="10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822960" cy="137160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0EA5A4"/>
                </a:solidFill>
                <a:latin typeface="Calibri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Energiya yo'qotishlarining nazariy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9476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FB4D6"/>
                </a:solidFill>
                <a:latin typeface="Calibri"/>
              </a:rPr>
              <a:t>Yo'qotish turlari · energiya sifati · iqtisodiy en kesim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I BOB · NAZARIYA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Yo'qotishlar tasnifi va asosiy bog'liqliklar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349240" cy="16916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3500" cy="1691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Tabiati bo'yicha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93776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F2A3A"/>
                </a:solidFill>
                <a:latin typeface="Calibri"/>
              </a:rPr>
              <a:t>Yuklamaga bog'liq (o'zgaruvchan)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F2A3A"/>
                </a:solidFill>
                <a:latin typeface="Calibri"/>
              </a:rPr>
              <a:t>Doimiy (salt yurish)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49240" cy="16916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63500" cy="169164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A5A4"/>
                </a:solidFill>
                <a:latin typeface="Calibri"/>
              </a:rPr>
              <a:t>Kelib chiqishi bo'yicha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93776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A4"/>
                </a:solidFill>
                <a:latin typeface="Calibri"/>
              </a:rPr>
              <a:t>•  </a:t>
            </a:r>
            <a:r>
              <a:rPr sz="1400">
                <a:solidFill>
                  <a:srgbClr val="1F2A3A"/>
                </a:solidFill>
                <a:latin typeface="Calibri"/>
              </a:rPr>
              <a:t>Texnik (fizik jarayonlar)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A4"/>
                </a:solidFill>
                <a:latin typeface="Calibri"/>
              </a:rPr>
              <a:t>•  </a:t>
            </a:r>
            <a:r>
              <a:rPr sz="1400">
                <a:solidFill>
                  <a:srgbClr val="1F2A3A"/>
                </a:solidFill>
                <a:latin typeface="Calibri"/>
              </a:rPr>
              <a:t>Tijoriy (hisob, o'g'irlik)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91840"/>
            <a:ext cx="5349240" cy="13716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0156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ASOSIY QONUNIYAT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6732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ΔP = 3 · I² · R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Tok 2 barobar oshsa — yo'qotish 4 barobar ortadi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291840"/>
            <a:ext cx="5349240" cy="1371600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40156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563EB"/>
                </a:solidFill>
                <a:latin typeface="Calibri"/>
              </a:rPr>
              <a:t>REAKTIV QUVVAT TA'SIRI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49039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A"/>
                </a:solidFill>
                <a:latin typeface="Calibri"/>
              </a:rPr>
              <a:t>Reaktiv quvvat to'liq tokni oshiradi → barcha elementlarda yo'qotish ko'payadi. cos φ ni oshirish — kalit zaxira.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92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Nazariy-uslubiy baza: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85232"/>
            <a:ext cx="1561795" cy="457200"/>
          </a:xfrm>
          <a:prstGeom prst="roundRect">
            <a:avLst>
              <a:gd name="adj" fmla="val 50000"/>
            </a:avLst>
          </a:prstGeom>
          <a:solidFill>
            <a:srgbClr val="10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85232"/>
            <a:ext cx="15617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Yu. S. Jelezko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84755" y="5285232"/>
            <a:ext cx="1561795" cy="457200"/>
          </a:xfrm>
          <a:prstGeom prst="roundRect">
            <a:avLst>
              <a:gd name="adj" fmla="val 50000"/>
            </a:avLst>
          </a:prstGeom>
          <a:solidFill>
            <a:srgbClr val="10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4755" y="5285232"/>
            <a:ext cx="15617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V. I. Idelchik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29430" y="5285232"/>
            <a:ext cx="1393545" cy="457200"/>
          </a:xfrm>
          <a:prstGeom prst="roundRect">
            <a:avLst>
              <a:gd name="adj" fmla="val 50000"/>
            </a:avLst>
          </a:prstGeom>
          <a:solidFill>
            <a:srgbClr val="10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29430" y="5285232"/>
            <a:ext cx="139354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F. F. Karpov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5855" y="5285232"/>
            <a:ext cx="1393545" cy="457200"/>
          </a:xfrm>
          <a:prstGeom prst="roundRect">
            <a:avLst>
              <a:gd name="adj" fmla="val 50000"/>
            </a:avLst>
          </a:prstGeom>
          <a:solidFill>
            <a:srgbClr val="10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05855" y="5285232"/>
            <a:ext cx="139354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B. I. Kudrin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2280" y="5285232"/>
            <a:ext cx="1225295" cy="457200"/>
          </a:xfrm>
          <a:prstGeom prst="roundRect">
            <a:avLst>
              <a:gd name="adj" fmla="val 50000"/>
            </a:avLst>
          </a:prstGeom>
          <a:solidFill>
            <a:srgbClr val="10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2280" y="5285232"/>
            <a:ext cx="12252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GOST 32144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I BOB · NAZARIYA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Elektr energiyasi sifati ko'rsatkichlari (GOST 32144)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704088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5136"/>
                <a:gridCol w="328574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Ko'rsatkich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Me'yoriy chegara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540"/>
                          </a:solidFill>
                          <a:latin typeface="Calibri"/>
                        </a:rPr>
                        <a:t>Kuchlanishning turg'un chetlanishi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F2A3A"/>
                          </a:solidFill>
                          <a:latin typeface="Calibri"/>
                        </a:rPr>
                        <a:t>± 10 %  (Uₙₒₘ ga nisbatan)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540"/>
                          </a:solidFill>
                          <a:latin typeface="Calibri"/>
                        </a:rPr>
                        <a:t>Chastota chetlanishi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F2A3A"/>
                          </a:solidFill>
                          <a:latin typeface="Calibri"/>
                        </a:rPr>
                        <a:t>± 0,2 Hz  (vaqtincha ± 0,4 Hz)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540"/>
                          </a:solidFill>
                          <a:latin typeface="Calibri"/>
                        </a:rPr>
                        <a:t>Garmonik buzilish koeffitsienti (THD)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F2A3A"/>
                          </a:solidFill>
                          <a:latin typeface="Calibri"/>
                        </a:rPr>
                        <a:t>≤ 8 %  (0,38–10 kV)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540"/>
                          </a:solidFill>
                          <a:latin typeface="Calibri"/>
                        </a:rPr>
                        <a:t>Alohida garmonika koeffitsienti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F2A3A"/>
                          </a:solidFill>
                          <a:latin typeface="Calibri"/>
                        </a:rPr>
                        <a:t>tartibiga ko'ra cheklanadi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540"/>
                          </a:solidFill>
                          <a:latin typeface="Calibri"/>
                        </a:rPr>
                        <a:t>Kuchlanish nosimmetrikligi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F2A3A"/>
                          </a:solidFill>
                          <a:latin typeface="Calibri"/>
                        </a:rPr>
                        <a:t>≤ 2 %  (vaqtincha ≤ 4 %)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01000" y="1417320"/>
            <a:ext cx="3566160" cy="41605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00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NEGA MUHIM?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7400"/>
            <a:ext cx="320040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F2A3A"/>
                </a:solidFill>
                <a:latin typeface="Calibri"/>
              </a:rPr>
              <a:t>Sifat me'yoridan chetlanish — qo'shimcha yo'qotish va jihoz resursining qisqarishi.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F2A3A"/>
                </a:solidFill>
                <a:latin typeface="Calibri"/>
              </a:rPr>
              <a:t>THD oshishi izolatsiya va kondensatorlarni qizdiradi.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F2A3A"/>
                </a:solidFill>
                <a:latin typeface="Calibri"/>
              </a:rPr>
              <a:t>Kuchlanish chetlanishi yuklama rejimini buzadi.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▸  </a:t>
            </a:r>
            <a:r>
              <a:rPr sz="1350">
                <a:solidFill>
                  <a:srgbClr val="1F2A3A"/>
                </a:solidFill>
                <a:latin typeface="Calibri"/>
              </a:rPr>
              <a:t>Standartga rioya — ishonchli va tejamkor ekspluatatsiya sharti.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371600"/>
          </a:xfrm>
          <a:prstGeom prst="rect">
            <a:avLst/>
          </a:prstGeom>
          <a:solidFill>
            <a:srgbClr val="10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822960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16A34A"/>
                </a:solidFill>
                <a:latin typeface="Calibri"/>
              </a:rPr>
              <a:t>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Energiya sarfi va yo'qotishlar tahlili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9476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FB4D6"/>
                </a:solidFill>
                <a:latin typeface="Calibri"/>
              </a:rPr>
              <a:t>Yuklama · transformator · fider · balans · qisqa tutashuv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II BOB ·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Yuklama grafigi va kuchlanish pasayishi tahlili</a:t>
            </a:r>
          </a:p>
        </p:txBody>
      </p:sp>
      <p:pic>
        <p:nvPicPr>
          <p:cNvPr id="7" name="Picture 6" descr="01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43100"/>
            <a:ext cx="7680960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417320"/>
            <a:ext cx="3246120" cy="107899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417320"/>
            <a:ext cx="63500" cy="10789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527048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A2540"/>
                </a:solidFill>
                <a:latin typeface="Calibri"/>
              </a:rPr>
              <a:t>12,0 MVt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020824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Maksimal quvvat Pₘₐₓ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606040"/>
            <a:ext cx="3246120" cy="107899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606040"/>
            <a:ext cx="63500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715768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A2540"/>
                </a:solidFill>
                <a:latin typeface="Calibri"/>
              </a:rPr>
              <a:t>9,05 MVt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209544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O'rtacha quvvat Pₒ'ʳ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794760"/>
            <a:ext cx="3246120" cy="107899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3794760"/>
            <a:ext cx="63500" cy="10789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3904488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A2540"/>
                </a:solidFill>
                <a:latin typeface="Calibri"/>
              </a:rPr>
              <a:t>0,75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4398264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To'ldirilganlik koeff. k_t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4983480"/>
            <a:ext cx="3246120" cy="107899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4983480"/>
            <a:ext cx="63500" cy="10789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5093208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A2540"/>
                </a:solidFill>
                <a:latin typeface="Calibri"/>
              </a:rPr>
              <a:t>60 GVt·s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5586984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Yillik energiya  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II BOB ·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Transformator yo'qotishlari va rejim optimizatsiyasi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5486400" cy="2596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234440"/>
                <a:gridCol w="15087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Ko'rsatkich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Belgisi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Qiymat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A2540"/>
                          </a:solidFill>
                          <a:latin typeface="Calibri"/>
                        </a:rPr>
                        <a:t>Nominal to'liq quvvat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Sₙₒₘ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25 000 kVA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A2540"/>
                          </a:solidFill>
                          <a:latin typeface="Calibri"/>
                        </a:rPr>
                        <a:t>Salt yurish yo'qotishi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ΔPₓₓ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25 kVt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A2540"/>
                          </a:solidFill>
                          <a:latin typeface="Calibri"/>
                        </a:rPr>
                        <a:t>Qisqa tutashuv yo'qotishi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ΔP_qt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120 kVt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A2540"/>
                          </a:solidFill>
                          <a:latin typeface="Calibri"/>
                        </a:rPr>
                        <a:t>Qisqa tutashuv kuchlanishi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U_qt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10,5 %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A2540"/>
                          </a:solidFill>
                          <a:latin typeface="Calibri"/>
                        </a:rPr>
                        <a:t>Salt yurish toki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Iₓₓ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0,7 %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09_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10669"/>
            <a:ext cx="5486400" cy="308802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074920"/>
            <a:ext cx="11018520" cy="10515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074920"/>
            <a:ext cx="7620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9379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ASOSIY NATIJA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4126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A"/>
                </a:solidFill>
                <a:latin typeface="Calibri"/>
              </a:rPr>
              <a:t>Bitta transformatorda ishlash (ikkitasi o'rniga) yillik yo'qotishni 503 → 350 MVt·s ga kamaytiradi — QO'SHIMCHA INVESTITSIYASIZ ≈ 153 MVt·s/yil tejam.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II BOB ·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10 kV fiderlar bo'yicha yo'qotishlar hisobi</a:t>
            </a:r>
          </a:p>
        </p:txBody>
      </p:sp>
      <p:pic>
        <p:nvPicPr>
          <p:cNvPr id="7" name="Picture 6" descr="03_fee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25" y="1325880"/>
            <a:ext cx="6213510" cy="31089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526280"/>
          <a:ext cx="6675117" cy="1874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2250"/>
                <a:gridCol w="1026941"/>
                <a:gridCol w="1026941"/>
                <a:gridCol w="1026941"/>
                <a:gridCol w="141204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Fider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L, km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S, mm²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ΔU, %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ΔW, MVt·s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2540"/>
                          </a:solidFill>
                          <a:latin typeface="Calibri"/>
                        </a:rPr>
                        <a:t>F-1 markaz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2,4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1,64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142,8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2540"/>
                          </a:solidFill>
                          <a:latin typeface="Calibri"/>
                        </a:rPr>
                        <a:t>F-2 turmush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3,1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2,08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153,4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2540"/>
                          </a:solidFill>
                          <a:latin typeface="Calibri"/>
                        </a:rPr>
                        <a:t>F-4 qishloq-1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5,2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2,98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154,0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2540"/>
                          </a:solidFill>
                          <a:latin typeface="Calibri"/>
                        </a:rPr>
                        <a:t>F-5 qishloq-2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6,0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2,90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  <a:latin typeface="Calibri"/>
                        </a:rPr>
                        <a:t>130,6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Jami (8 fider)</a:t>
                      </a:r>
                    </a:p>
                  </a:txBody>
                  <a:tcPr marL="73152" marR="54864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2A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2A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2A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2A3A"/>
                          </a:solidFill>
                          <a:latin typeface="Calibri"/>
                        </a:rPr>
                        <a:t>865,6</a:t>
                      </a:r>
                    </a:p>
                  </a:txBody>
                  <a:tcPr marL="73152" marR="54864" marT="18288" marB="18288"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06640" y="1417320"/>
            <a:ext cx="4160520" cy="47091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57276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A5A4"/>
                </a:solidFill>
                <a:latin typeface="Calibri"/>
              </a:rPr>
              <a:t>TAHLIL XULOSASI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011680"/>
            <a:ext cx="370332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EA5A4"/>
                </a:solidFill>
                <a:latin typeface="Calibri"/>
              </a:rPr>
              <a:t>▸  </a:t>
            </a:r>
            <a:r>
              <a:rPr sz="1400">
                <a:solidFill>
                  <a:srgbClr val="E6EDF7"/>
                </a:solidFill>
                <a:latin typeface="Calibri"/>
              </a:rPr>
              <a:t>Fider liniyalaridagi yillik yo'qotish — 865,6 MVt·s.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EA5A4"/>
                </a:solidFill>
                <a:latin typeface="Calibri"/>
              </a:rPr>
              <a:t>▸  </a:t>
            </a:r>
            <a:r>
              <a:rPr sz="1400">
                <a:solidFill>
                  <a:srgbClr val="E6EDF7"/>
                </a:solidFill>
                <a:latin typeface="Calibri"/>
              </a:rPr>
              <a:t>Eng katta yo'qotish: F-2, F-4, F-5 fiderlarda.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EA5A4"/>
                </a:solidFill>
                <a:latin typeface="Calibri"/>
              </a:rPr>
              <a:t>▸  </a:t>
            </a:r>
            <a:r>
              <a:rPr sz="1400">
                <a:solidFill>
                  <a:srgbClr val="E6EDF7"/>
                </a:solidFill>
                <a:latin typeface="Calibri"/>
              </a:rPr>
              <a:t>Sabab: katta uzunlik (5–6 km) va kichik en kesim (70 mm²).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EA5A4"/>
                </a:solidFill>
                <a:latin typeface="Calibri"/>
              </a:rPr>
              <a:t>▸  </a:t>
            </a:r>
            <a:r>
              <a:rPr sz="1400">
                <a:solidFill>
                  <a:srgbClr val="E6EDF7"/>
                </a:solidFill>
                <a:latin typeface="Calibri"/>
              </a:rPr>
              <a:t>F-4 da ΔU = 2,98 % — me'yor chegarasiga yaqin.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EA5A4"/>
                </a:solidFill>
                <a:latin typeface="Calibri"/>
              </a:rPr>
              <a:t>▸  </a:t>
            </a:r>
            <a:r>
              <a:rPr sz="1400">
                <a:solidFill>
                  <a:srgbClr val="E6EDF7"/>
                </a:solidFill>
                <a:latin typeface="Calibri"/>
              </a:rPr>
              <a:t>Asosiy zaxira aynan 10 kV taqsimlash tarmog'ida joylashgan.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II BOB ·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Podstansiya energiya balansi va yo'qotishlar tarkibi</a:t>
            </a:r>
          </a:p>
        </p:txBody>
      </p:sp>
      <p:pic>
        <p:nvPicPr>
          <p:cNvPr id="7" name="Picture 6" descr="02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64965"/>
            <a:ext cx="7132320" cy="41510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463040"/>
            <a:ext cx="388620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463040"/>
            <a:ext cx="6350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572768"/>
            <a:ext cx="3611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A2540"/>
                </a:solidFill>
                <a:latin typeface="Calibri"/>
              </a:rPr>
              <a:t>1760 MVt·s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2359152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Yillik texnik yo'qotish (= 2,9 %)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063240"/>
            <a:ext cx="3749039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563EB"/>
                </a:solidFill>
                <a:latin typeface="Calibri"/>
              </a:rPr>
              <a:t>▸  </a:t>
            </a:r>
            <a:r>
              <a:rPr sz="1450">
                <a:solidFill>
                  <a:srgbClr val="1F2A3A"/>
                </a:solidFill>
                <a:latin typeface="Calibri"/>
              </a:rPr>
              <a:t>Yo'qotishning 68 % dan ortig'i — 10 kV bo'g'inda.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563EB"/>
                </a:solidFill>
                <a:latin typeface="Calibri"/>
              </a:rPr>
              <a:t>▸  </a:t>
            </a:r>
            <a:r>
              <a:rPr sz="1450">
                <a:solidFill>
                  <a:srgbClr val="1F2A3A"/>
                </a:solidFill>
                <a:latin typeface="Calibri"/>
              </a:rPr>
              <a:t>Faqat 10 kV fiderlar — 49,2 % (eng katta ulush).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563EB"/>
                </a:solidFill>
                <a:latin typeface="Calibri"/>
              </a:rPr>
              <a:t>▸  </a:t>
            </a:r>
            <a:r>
              <a:rPr sz="1450">
                <a:solidFill>
                  <a:srgbClr val="1F2A3A"/>
                </a:solidFill>
                <a:latin typeface="Calibri"/>
              </a:rPr>
              <a:t>Balans: W_kir = W_chiq + ΔW_texnik + ΔW_tijoriy.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563EB"/>
                </a:solidFill>
                <a:latin typeface="Calibri"/>
              </a:rPr>
              <a:t>▸  </a:t>
            </a:r>
            <a:r>
              <a:rPr sz="1450">
                <a:solidFill>
                  <a:srgbClr val="1F2A3A"/>
                </a:solidFill>
                <a:latin typeface="Calibri"/>
              </a:rPr>
              <a:t>Demak choralar avvalo 10 kV tarmoqqa yo'naltirilishi kerak.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II BOB ·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Quvvat koeffitsienti va garmonik buzilishlar</a:t>
            </a:r>
          </a:p>
        </p:txBody>
      </p:sp>
      <p:pic>
        <p:nvPicPr>
          <p:cNvPr id="7" name="Picture 6" descr="04_t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25980"/>
            <a:ext cx="68580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89520" y="1417320"/>
            <a:ext cx="3977639" cy="11430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417320"/>
            <a:ext cx="63500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527048"/>
            <a:ext cx="3703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A2540"/>
                </a:solidFill>
                <a:latin typeface="Calibri"/>
              </a:rPr>
              <a:t>cos φ = 0,85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2084832"/>
            <a:ext cx="370331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tan φ = 0,62  ·  Qₘₐₓ = 7440 kVar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697480"/>
            <a:ext cx="3977639" cy="11430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2697480"/>
            <a:ext cx="63500" cy="1143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2807208"/>
            <a:ext cx="3703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A2540"/>
                </a:solidFill>
                <a:latin typeface="Calibri"/>
              </a:rPr>
              <a:t>THD = 8,8 %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3364992"/>
            <a:ext cx="370331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me'yor ≤ 8 % — chegaradan yuqori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3977639"/>
            <a:ext cx="3977639" cy="21488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11480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TAVSIYA ETILGAN YECHIM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526280"/>
            <a:ext cx="3611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E6EDF7"/>
                </a:solidFill>
                <a:latin typeface="Calibri"/>
              </a:rPr>
              <a:t>Kondensator batareyalarini rezonansdan himoyalovchi sozlangan drossel (filtr-reaktor, 7 % yoki 14 %) bilan o'rnatish hamda passiv garmonik filtrlardan foydalanish.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II BOB ·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Yo'qotishlarning mavsumiy dinamikasi va qisqa tutashuv</a:t>
            </a:r>
          </a:p>
        </p:txBody>
      </p:sp>
      <p:pic>
        <p:nvPicPr>
          <p:cNvPr id="7" name="Picture 6" descr="05_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68" y="1325880"/>
            <a:ext cx="7304823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463040"/>
            <a:ext cx="3337560" cy="11430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463040"/>
            <a:ext cx="6350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572768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A2540"/>
                </a:solidFill>
                <a:latin typeface="Calibri"/>
              </a:rPr>
              <a:t>11,9 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130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Qisqa tutashuv toki I_k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788920"/>
            <a:ext cx="3337560" cy="11430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2788920"/>
            <a:ext cx="63500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898648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A2540"/>
                </a:solidFill>
                <a:latin typeface="Calibri"/>
              </a:rPr>
              <a:t>30,3 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45643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Zarba toki i_a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114800"/>
            <a:ext cx="3337560" cy="9144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224528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F2A3A"/>
                </a:solidFill>
                <a:latin typeface="Calibri"/>
              </a:rPr>
              <a:t>Mavjud taqsimlash qurilmasi termik va dinamik shartlarga to'liq javob beradi.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66360"/>
            <a:ext cx="11064240" cy="960120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166360"/>
            <a:ext cx="76200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76088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A"/>
                </a:solidFill>
                <a:latin typeface="Calibri"/>
              </a:rPr>
              <a:t>Yo'qotish ulushi yil bo'yi barqaror ≈ 2,9 %, lekin yozda (iyul–avgust) va qishda (yanvar) absolyut qiymat oshadi — cho'qqi davrlarda kompensatsiya samarasi eng yuqori.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371600"/>
          </a:xfrm>
          <a:prstGeom prst="rect">
            <a:avLst/>
          </a:prstGeom>
          <a:solidFill>
            <a:srgbClr val="10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82296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59E0B"/>
                </a:solidFill>
                <a:latin typeface="Calibri"/>
              </a:rPr>
              <a:t>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Kamaytirish texnologiyalari va samaradorlik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9476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FB4D6"/>
                </a:solidFill>
                <a:latin typeface="Calibri"/>
              </a:rPr>
              <a:t>Kompensatsiya · ChOQ · AMI · SCADA · iqtisodiy baholash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III BOB · 3.1–3.2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Energiya sarfini kamaytirish texnologiyalari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927080" cy="111556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76200" cy="11155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563EB"/>
                </a:solidFill>
                <a:latin typeface="Calibri"/>
              </a:rPr>
              <a:t>Reaktiv quvvat kompensatsiyasi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92807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A"/>
                </a:solidFill>
                <a:latin typeface="Calibri"/>
              </a:rPr>
              <a:t>UKRM 10,5 kV; 3600 kVar (6×600). cos φ: 0,85→0,95; S: 14,12→12,63 MVA. Yo'qotish −20 % ≈ 284 MVt·s/yil.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78608"/>
            <a:ext cx="10927080" cy="111556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78608"/>
            <a:ext cx="76200" cy="11155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EA5A4"/>
                </a:solidFill>
                <a:latin typeface="Calibri"/>
              </a:rPr>
              <a:t>Chastota o'zgartiruvchi qurilma (ChOQ)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99815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A"/>
                </a:solidFill>
                <a:latin typeface="Calibri"/>
              </a:rPr>
              <a:t>110 kVt nasos yuritmasi, PID rostlash. Tejam ≈ 180 MVt·s/yil. Qaytish ≈ 0,9 yil — eng tez choralardan.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85616"/>
            <a:ext cx="10927080" cy="111556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85616"/>
            <a:ext cx="76200" cy="11155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044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6A34A"/>
                </a:solidFill>
                <a:latin typeface="Calibri"/>
              </a:rPr>
              <a:t>AMI — aqlli hisobga olish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06823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A"/>
                </a:solidFill>
                <a:latin typeface="Calibri"/>
              </a:rPr>
              <a:t>Aqlli hisoblagich + konsentrator + MDM. Tijoriy yo'qotishni keskin kamaytiradi: ≈ 1200 MVt·s/yil.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92624"/>
            <a:ext cx="10927080" cy="111556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992624"/>
            <a:ext cx="76200" cy="11155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11496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7C3AED"/>
                </a:solidFill>
                <a:latin typeface="Calibri"/>
              </a:rPr>
              <a:t>SCADA / PLC / IoT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13831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A"/>
                </a:solidFill>
                <a:latin typeface="Calibri"/>
              </a:rPr>
              <a:t>Real vaqtda nazorat, masofadan boshqaruv, tarmoqni balanslash. Tejam ≈ 240 MVt·s/yil.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III BOB ·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Choralarning texnik-iqtisodiy ko'rsatkichlari</a:t>
            </a:r>
          </a:p>
        </p:txBody>
      </p:sp>
      <p:pic>
        <p:nvPicPr>
          <p:cNvPr id="7" name="Picture 6" descr="06_meas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217920" cy="31089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526280"/>
          <a:ext cx="6400799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6384"/>
                <a:gridCol w="1230923"/>
                <a:gridCol w="1230923"/>
                <a:gridCol w="1230923"/>
                <a:gridCol w="861646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Chora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Tejam
MVt·s/yil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Tejam
mln so'm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Inv.
mln so'm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T_q
yil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540"/>
                          </a:solidFill>
                          <a:latin typeface="Calibri"/>
                        </a:rPr>
                        <a:t>Reaktiv komp.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284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538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3,1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540"/>
                          </a:solidFill>
                          <a:latin typeface="Calibri"/>
                        </a:rPr>
                        <a:t>ChOQ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0,9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540"/>
                          </a:solidFill>
                          <a:latin typeface="Calibri"/>
                        </a:rPr>
                        <a:t>AMI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1200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720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1730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2,4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540"/>
                          </a:solidFill>
                          <a:latin typeface="Calibri"/>
                        </a:rPr>
                        <a:t>SCADA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F2A3A"/>
                          </a:solidFill>
                          <a:latin typeface="Calibri"/>
                        </a:rPr>
                        <a:t>4,5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Jami (majmua)</a:t>
                      </a:r>
                    </a:p>
                  </a:txBody>
                  <a:tcPr marL="73152" marR="54864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1904</a:t>
                      </a:r>
                    </a:p>
                  </a:txBody>
                  <a:tcPr marL="73152" marR="54864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1142</a:t>
                      </a:r>
                    </a:p>
                  </a:txBody>
                  <a:tcPr marL="73152" marR="54864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3003</a:t>
                      </a:r>
                    </a:p>
                  </a:txBody>
                  <a:tcPr marL="73152" marR="54864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2,6</a:t>
                      </a:r>
                    </a:p>
                  </a:txBody>
                  <a:tcPr marL="73152" marR="54864" marT="18288" marB="18288"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086600" y="1417320"/>
            <a:ext cx="4480560" cy="10515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1417320"/>
            <a:ext cx="6350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51192" y="152704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A2540"/>
                </a:solidFill>
                <a:latin typeface="Calibri"/>
              </a:rPr>
              <a:t>1904 MVt·s/yil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1192" y="199339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Majmuaning umumiy tejami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606040"/>
            <a:ext cx="4480560" cy="10515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2606040"/>
            <a:ext cx="63500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271576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A2540"/>
                </a:solidFill>
                <a:latin typeface="Calibri"/>
              </a:rPr>
              <a:t>1142 mln so'm/yil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31821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Yillik pul tejami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3794760"/>
            <a:ext cx="4480560" cy="10515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3794760"/>
            <a:ext cx="6350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1192" y="390448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A2540"/>
                </a:solidFill>
                <a:latin typeface="Calibri"/>
              </a:rPr>
              <a:t>3003 mln so'm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437083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Umumiy investitsiya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86600" y="4983480"/>
            <a:ext cx="63500" cy="105156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1192" y="509320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A2540"/>
                </a:solidFill>
                <a:latin typeface="Calibri"/>
              </a:rPr>
              <a:t>≈ 2,6 yil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555955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O'rtacha qaytish muddati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III BOB ·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Iqtisodiy asoslash: NPV va sezgirlik tahlili</a:t>
            </a:r>
          </a:p>
        </p:txBody>
      </p:sp>
      <p:pic>
        <p:nvPicPr>
          <p:cNvPr id="7" name="Picture 6" descr="07_cash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8633"/>
            <a:ext cx="6949440" cy="347225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35240" y="1417320"/>
            <a:ext cx="3931920" cy="14173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5544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ASOSIY NATIJA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938528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NPV ≈ 1930 mln so'm</a:t>
            </a:r>
          </a:p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(r = 15 %, 8 yil) → NPV &gt; 0 → loyiha asoslangan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35240" y="3108960"/>
          <a:ext cx="393191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9025"/>
                <a:gridCol w="1156447"/>
                <a:gridCol w="1156447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Tarif, so'm/kVt·s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Tejam, mln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NPV, mln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540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A3A"/>
                          </a:solidFill>
                          <a:latin typeface="Calibri"/>
                        </a:rPr>
                        <a:t>915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A3A"/>
                          </a:solidFill>
                          <a:latin typeface="Calibri"/>
                        </a:rPr>
                        <a:t>≈ 1100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54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A3A"/>
                          </a:solidFill>
                          <a:latin typeface="Calibri"/>
                        </a:rPr>
                        <a:t>1142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A3A"/>
                          </a:solidFill>
                          <a:latin typeface="Calibri"/>
                        </a:rPr>
                        <a:t>≈ 1930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540"/>
                          </a:solidFill>
                          <a:latin typeface="Calibri"/>
                        </a:rPr>
                        <a:t>720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A3A"/>
                          </a:solidFill>
                          <a:latin typeface="Calibri"/>
                        </a:rPr>
                        <a:t>1370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A3A"/>
                          </a:solidFill>
                          <a:latin typeface="Calibri"/>
                        </a:rPr>
                        <a:t>≈ 2760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35240" y="5120640"/>
            <a:ext cx="393192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F2A3A"/>
                </a:solidFill>
                <a:latin typeface="Calibri"/>
              </a:rPr>
              <a:t>Sof oqim ≈ 2,7-yilda musbatga o'tadi.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1F2A3A"/>
                </a:solidFill>
                <a:latin typeface="Calibri"/>
              </a:rPr>
              <a:t>Tarif oshsa NPV ortadi — loyiha barqaror foydali.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NATIJA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Choralardan oldin va keyin: qiyosiy tahlil</a:t>
            </a:r>
          </a:p>
        </p:txBody>
      </p:sp>
      <p:pic>
        <p:nvPicPr>
          <p:cNvPr id="7" name="Picture 6" descr="08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97187"/>
            <a:ext cx="6949440" cy="339514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1417320"/>
          <a:ext cx="3977638" cy="2706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3494"/>
                <a:gridCol w="942072"/>
                <a:gridCol w="9420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Ko'rsatkich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Gacha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Keyin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A2540"/>
                          </a:solidFill>
                          <a:latin typeface="Calibri"/>
                        </a:rPr>
                        <a:t>Quvvat koeffitsienti cos 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0,85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A2540"/>
                          </a:solidFill>
                          <a:latin typeface="Calibri"/>
                        </a:rPr>
                        <a:t>To'liq quvvat, MVA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14,12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12,63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A2540"/>
                          </a:solidFill>
                          <a:latin typeface="Calibri"/>
                        </a:rPr>
                        <a:t>Texnik yo'qotish, MVt·s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1760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≈ 1400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A2540"/>
                          </a:solidFill>
                          <a:latin typeface="Calibri"/>
                        </a:rPr>
                        <a:t>Tijoriy yo'qotish, %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≈ 2,0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≈ 0,5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A2540"/>
                          </a:solidFill>
                          <a:latin typeface="Calibri"/>
                        </a:rPr>
                        <a:t>THD, 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8,8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&lt; 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A2540"/>
                          </a:solidFill>
                          <a:latin typeface="Calibri"/>
                        </a:rPr>
                        <a:t>Umumiy yo'qotish, %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≈ 5,0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F2A3A"/>
                          </a:solidFill>
                          <a:latin typeface="Calibri"/>
                        </a:rPr>
                        <a:t>≈ 3,0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BOB 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Hayot faoliyati xavfsizligi va mehnat muhofazasi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563EB"/>
                </a:solidFill>
                <a:latin typeface="Calibri"/>
              </a:rPr>
              <a:t>Relay himoyasi turlari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91640"/>
          <a:ext cx="5486400" cy="2395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1750"/>
                <a:gridCol w="291465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Himoya turi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54864" marT="18288" marB="18288" anchor="ctr">
                    <a:solidFill>
                      <a:srgbClr val="0A25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540"/>
                          </a:solidFill>
                          <a:latin typeface="Calibri"/>
                        </a:rPr>
                        <a:t>Maksimal tok himoyasi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A3A"/>
                          </a:solidFill>
                          <a:latin typeface="Calibri"/>
                        </a:rPr>
                        <a:t>qisqa tutashuvdan himoya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540"/>
                          </a:solidFill>
                          <a:latin typeface="Calibri"/>
                        </a:rPr>
                        <a:t>Tok kesimi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A3A"/>
                          </a:solidFill>
                          <a:latin typeface="Calibri"/>
                        </a:rPr>
                        <a:t>tezkor o'chirish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540"/>
                          </a:solidFill>
                          <a:latin typeface="Calibri"/>
                        </a:rPr>
                        <a:t>Differensial himoya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A3A"/>
                          </a:solidFill>
                          <a:latin typeface="Calibri"/>
                        </a:rPr>
                        <a:t>transformator ichki nosozligi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540"/>
                          </a:solidFill>
                          <a:latin typeface="Calibri"/>
                        </a:rPr>
                        <a:t>Gaz himoyasi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A3A"/>
                          </a:solidFill>
                          <a:latin typeface="Calibri"/>
                        </a:rPr>
                        <a:t>ichki yoy va moy parchalanishi</a:t>
                      </a:r>
                    </a:p>
                  </a:txBody>
                  <a:tcPr marL="73152" marR="54864" marT="18288" marB="18288" anchor="ctr">
                    <a:solidFill>
                      <a:srgbClr val="F1F5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540"/>
                          </a:solidFill>
                          <a:latin typeface="Calibri"/>
                        </a:rPr>
                        <a:t>Yerga tutashuv himoyasi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A3A"/>
                          </a:solidFill>
                          <a:latin typeface="Calibri"/>
                        </a:rPr>
                        <a:t>bir fazali tutashuvni aniqlash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258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A34A"/>
                </a:solidFill>
                <a:latin typeface="Calibri"/>
              </a:rPr>
              <a:t>Yong'in, ekologik va sanitariya talablari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21208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6A34A"/>
                </a:solidFill>
                <a:latin typeface="Calibri"/>
              </a:rPr>
              <a:t>•  </a:t>
            </a:r>
            <a:r>
              <a:rPr sz="1350">
                <a:solidFill>
                  <a:srgbClr val="1F2A3A"/>
                </a:solidFill>
                <a:latin typeface="Calibri"/>
              </a:rPr>
              <a:t>Yerga ulash va zanulleniye (GOST 12.1.030);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6A34A"/>
                </a:solidFill>
                <a:latin typeface="Calibri"/>
              </a:rPr>
              <a:t>•  </a:t>
            </a:r>
            <a:r>
              <a:rPr sz="1350">
                <a:solidFill>
                  <a:srgbClr val="1F2A3A"/>
                </a:solidFill>
                <a:latin typeface="Calibri"/>
              </a:rPr>
              <a:t>Tegish kuchlanishi chegaralari (GOST 12.1.038);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6A34A"/>
                </a:solidFill>
                <a:latin typeface="Calibri"/>
              </a:rPr>
              <a:t>•  </a:t>
            </a:r>
            <a:r>
              <a:rPr sz="1350">
                <a:solidFill>
                  <a:srgbClr val="1F2A3A"/>
                </a:solidFill>
                <a:latin typeface="Calibri"/>
              </a:rPr>
              <a:t>Shaxsiy himoya vositalari: izolatsion shtanga, dielektrik qo'lqop, yoyga chidamli kiyim;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6A34A"/>
                </a:solidFill>
                <a:latin typeface="Calibri"/>
              </a:rPr>
              <a:t>•  </a:t>
            </a:r>
            <a:r>
              <a:rPr sz="1350">
                <a:solidFill>
                  <a:srgbClr val="1F2A3A"/>
                </a:solidFill>
                <a:latin typeface="Calibri"/>
              </a:rPr>
              <a:t>Transformator moyi — yong'in xavfi: moy yig'gich va avtomatik signalizatsiya;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6A34A"/>
                </a:solidFill>
                <a:latin typeface="Calibri"/>
              </a:rPr>
              <a:t>•  </a:t>
            </a:r>
            <a:r>
              <a:rPr sz="1350">
                <a:solidFill>
                  <a:srgbClr val="1F2A3A"/>
                </a:solidFill>
                <a:latin typeface="Calibri"/>
              </a:rPr>
              <a:t>Elektromagnit maydon, shovqin va sanitariya-gigiyena me'yorlariga rioya.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51960"/>
            <a:ext cx="5486400" cy="1874519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7083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540"/>
                </a:solidFill>
                <a:latin typeface="Calibri"/>
              </a:rPr>
              <a:t>Yuklanish rejimlari (GOST 14209)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73168"/>
            <a:ext cx="50292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•  </a:t>
            </a:r>
            <a:r>
              <a:rPr sz="1250">
                <a:solidFill>
                  <a:srgbClr val="1F2A3A"/>
                </a:solidFill>
                <a:latin typeface="Calibri"/>
              </a:rPr>
              <a:t>Doimiy normal: k ≤ 1,0;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•  </a:t>
            </a:r>
            <a:r>
              <a:rPr sz="1250">
                <a:solidFill>
                  <a:srgbClr val="1F2A3A"/>
                </a:solidFill>
                <a:latin typeface="Calibri"/>
              </a:rPr>
              <a:t>Sutkalik notekislik: 1,0–1,3;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•  </a:t>
            </a:r>
            <a:r>
              <a:rPr sz="1250">
                <a:solidFill>
                  <a:srgbClr val="1F2A3A"/>
                </a:solidFill>
                <a:latin typeface="Calibri"/>
              </a:rPr>
              <a:t>Avariyadan keyin: 1,3–1,4 (cheklangan vaqt).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6350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A5A4"/>
                </a:solidFill>
                <a:latin typeface="Calibri"/>
              </a:rPr>
              <a:t>YAKUN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Xulosa va amaliy tavsiyalar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▸  </a:t>
            </a:r>
            <a:r>
              <a:rPr sz="1550">
                <a:solidFill>
                  <a:srgbClr val="1F2A3A"/>
                </a:solidFill>
                <a:latin typeface="Calibri"/>
              </a:rPr>
              <a:t>Yo'qotishlar tabiati nazariy asoslandi: ular tok kvadratiga va reaktiv quvvatga bog'liq.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▸  </a:t>
            </a:r>
            <a:r>
              <a:rPr sz="1550">
                <a:solidFill>
                  <a:srgbClr val="1F2A3A"/>
                </a:solidFill>
                <a:latin typeface="Calibri"/>
              </a:rPr>
              <a:t>Yillik texnik yo'qotish 1760 MVt·s (2,9 %); 68 % dan ortig'i — 10 kV bo'g'inda, ayniqsa F-2/F-4/F-5 fiderlarda.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▸  </a:t>
            </a:r>
            <a:r>
              <a:rPr sz="1550">
                <a:solidFill>
                  <a:srgbClr val="1F2A3A"/>
                </a:solidFill>
                <a:latin typeface="Calibri"/>
              </a:rPr>
              <a:t>cos φ ni 0,85 → 0,95 ga ko'tarish yuklamaga bog'liq yo'qotishlarni ≈ 20 % (≈ 284 MVt·s) kamaytiradi.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▸  </a:t>
            </a:r>
            <a:r>
              <a:rPr sz="1550">
                <a:solidFill>
                  <a:srgbClr val="1F2A3A"/>
                </a:solidFill>
                <a:latin typeface="Calibri"/>
              </a:rPr>
              <a:t>Transformator rejimini optimallashtirish xarajatsiz ≈ 153 MVt·s/yil tejam beradi.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563EB"/>
                </a:solidFill>
                <a:latin typeface="Calibri"/>
              </a:rPr>
              <a:t>▸  </a:t>
            </a:r>
            <a:r>
              <a:rPr sz="1550">
                <a:solidFill>
                  <a:srgbClr val="1F2A3A"/>
                </a:solidFill>
                <a:latin typeface="Calibri"/>
              </a:rPr>
              <a:t>Choralar qaytishi 0,9–4,5 yil; majmua uchun NPV ≈ 1930 mln so'm (musbat) → loyiha iqtisodiy asoslangan.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617720"/>
            <a:ext cx="10927080" cy="15087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A5A4"/>
                </a:solidFill>
                <a:latin typeface="Calibri"/>
              </a:rPr>
              <a:t>TAVSIYA ETILGAN JORIY ETISH KETMA-KETLIGI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212080"/>
            <a:ext cx="1874519" cy="77724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212080"/>
            <a:ext cx="1691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 Transformator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rejimi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0088" y="5212080"/>
            <a:ext cx="1874519" cy="777240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9816" y="5212080"/>
            <a:ext cx="1691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2.  ChOQ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5212080"/>
            <a:ext cx="1874519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5212080"/>
            <a:ext cx="1691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 Reaktiv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kompensatsiya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2904" y="5212080"/>
            <a:ext cx="1874519" cy="7772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2" y="5212080"/>
            <a:ext cx="1691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 AMI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54312" y="5212080"/>
            <a:ext cx="1874519" cy="7772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5212080"/>
            <a:ext cx="1691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5.  SCADA va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balanslash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«Vobkent» 110/35/10 kV PS  ·  Bitiruv malakaviy ishi  ·  Buxoro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9224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70248" y="3200400"/>
            <a:ext cx="3657600" cy="5080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E'tiboringiz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1">
                <a:solidFill>
                  <a:srgbClr val="9FB4D6"/>
                </a:solidFill>
                <a:latin typeface="Calibri"/>
              </a:rPr>
              <a:t>Savollaringizga javob berishga tayyorman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6F82A6"/>
                </a:solidFill>
                <a:latin typeface="Calibri"/>
              </a:rPr>
              <a:t>«Vobkent» 110/35/10 kV podstansiyasi  ·  Buxoro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