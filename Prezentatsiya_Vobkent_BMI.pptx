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0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C0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395728"/>
            <a:ext cx="457200" cy="38100"/>
          </a:xfrm>
          <a:prstGeom prst="rect">
            <a:avLst/>
          </a:prstGeom>
          <a:solidFill>
            <a:srgbClr val="D99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459736"/>
            <a:ext cx="457200" cy="38100"/>
          </a:xfrm>
          <a:prstGeom prst="rect">
            <a:avLst/>
          </a:prstGeom>
          <a:solidFill>
            <a:srgbClr val="D99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523744"/>
            <a:ext cx="457200" cy="38100"/>
          </a:xfrm>
          <a:prstGeom prst="rect">
            <a:avLst/>
          </a:prstGeom>
          <a:solidFill>
            <a:srgbClr val="D99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9DB2D4"/>
                </a:solidFill>
                <a:latin typeface="Calibri"/>
              </a:rPr>
              <a:t>O'ZBEKISTON RESPUBLIKASI OLIY TA'LIM, FAN VA INNOVATSIYALAR VAZIRLIGI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859536"/>
            <a:ext cx="10515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9DB2D4"/>
                </a:solidFill>
                <a:latin typeface="Calibri"/>
              </a:rPr>
              <a:t>BUXORO DAVLAT TEXNIKA UNIVERSITETI  ·  «Elektr energetikasi» kafedrasi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0700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DB2D4"/>
                </a:solidFill>
                <a:latin typeface="Calibri"/>
              </a:rPr>
              <a:t>Mutaxassislik: 60710900 — Energiya tejamkorligi va energoaudit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8848" y="1627632"/>
            <a:ext cx="3200400" cy="438912"/>
          </a:xfrm>
          <a:prstGeom prst="roundRect">
            <a:avLst>
              <a:gd name="adj" fmla="val 50000"/>
            </a:avLst>
          </a:prstGeom>
          <a:solidFill>
            <a:srgbClr val="C0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8" y="1627632"/>
            <a:ext cx="32004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BITIRUV MALAKAVIY ISHI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487168"/>
            <a:ext cx="1092708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ELEKTR TA'MINOTI TIZIMLARIDA ENERGIYA SARFINI</a:t>
            </a:r>
          </a:p>
          <a:p>
            <a:pPr algn="ctr">
              <a:lnSpc>
                <a:spcPct val="106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KAMAYTIRISH TEXNOLOGIYALARINI TADQIQOT QILISH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11480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1">
                <a:solidFill>
                  <a:srgbClr val="D99B57"/>
                </a:solidFill>
                <a:latin typeface="Calibri"/>
              </a:rPr>
              <a:t>Buxoro viloyati «Vobkent» 110/35/10 kV podstansiyasi misolida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20240" y="4937760"/>
            <a:ext cx="8321040" cy="1078992"/>
          </a:xfrm>
          <a:prstGeom prst="rect">
            <a:avLst/>
          </a:prstGeom>
          <a:solidFill>
            <a:srgbClr val="133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40280" y="5074920"/>
            <a:ext cx="7772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 i="0">
                <a:solidFill>
                  <a:srgbClr val="DCE5F2"/>
                </a:solidFill>
                <a:latin typeface="Calibri"/>
              </a:rPr>
              <a:t>Bajardi:  Muxiddinov Sherzod Shaxob o'g'li</a:t>
            </a:r>
          </a:p>
          <a:p>
            <a:pPr algn="l">
              <a:lnSpc>
                <a:spcPct val="122000"/>
              </a:lnSpc>
            </a:pPr>
            <a:r>
              <a:rPr sz="1350" b="0" i="0">
                <a:solidFill>
                  <a:srgbClr val="DCE5F2"/>
                </a:solidFill>
                <a:latin typeface="Calibri"/>
              </a:rPr>
              <a:t>Ilmiy rahbar:  dots. S.Sh. Rustamov</a:t>
            </a:r>
          </a:p>
          <a:p>
            <a:pPr algn="l">
              <a:lnSpc>
                <a:spcPct val="122000"/>
              </a:lnSpc>
            </a:pPr>
            <a:r>
              <a:rPr sz="1350" b="0" i="0">
                <a:solidFill>
                  <a:srgbClr val="DCE5F2"/>
                </a:solidFill>
                <a:latin typeface="Calibri"/>
              </a:rPr>
              <a:t>«Himoyaga ruxsat etildi». Kafedra mudiri:  ______________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D99B57"/>
                </a:solidFill>
                <a:latin typeface="Calibri"/>
              </a:rPr>
              <a:t>BUXORO —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4450"/>
          </a:xfrm>
          <a:prstGeom prst="rect">
            <a:avLst/>
          </a:prstGeom>
          <a:solidFill>
            <a:srgbClr val="C0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63500" cy="548640"/>
          </a:xfrm>
          <a:prstGeom prst="rect">
            <a:avLst/>
          </a:prstGeom>
          <a:solidFill>
            <a:srgbClr val="C0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0116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D99B57"/>
                </a:solidFill>
                <a:latin typeface="Calibri"/>
              </a:rPr>
              <a:t>KIRISH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75488"/>
            <a:ext cx="10789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Calibri"/>
              </a:rPr>
              <a:t>Mavzuning dolzarbligi va muammoning qo'yilishi</a:t>
            </a:r>
          </a:p>
        </p:txBody>
      </p:sp>
      <p:pic>
        <p:nvPicPr>
          <p:cNvPr id="7" name="Picture 6" descr="02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951229"/>
            <a:ext cx="6492240" cy="3778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1371600"/>
            <a:ext cx="4754880" cy="32918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>
                <a:solidFill>
                  <a:srgbClr val="C0792B"/>
                </a:solidFill>
                <a:latin typeface="Calibri"/>
              </a:rPr>
              <a:t>▸  </a:t>
            </a:r>
            <a:r>
              <a:rPr sz="1450">
                <a:solidFill>
                  <a:srgbClr val="1A2433"/>
                </a:solidFill>
                <a:latin typeface="Calibri"/>
              </a:rPr>
              <a:t>Energiya manbadan iste'molchigacha har bir bo'g'inda qisman yo'qoladi; yo'qotishlarni kamaytirish — tarmoq ekspluatatsiyasining markaziy masalasi.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>
                <a:solidFill>
                  <a:srgbClr val="C0792B"/>
                </a:solidFill>
                <a:latin typeface="Calibri"/>
              </a:rPr>
              <a:t>▸  </a:t>
            </a:r>
            <a:r>
              <a:rPr sz="1450">
                <a:solidFill>
                  <a:srgbClr val="1A2433"/>
                </a:solidFill>
                <a:latin typeface="Calibri"/>
              </a:rPr>
              <a:t>Yo'qotishning asosiy qismi 6–10 kV taqsimlash tarmog'ida yuzaga keladi.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>
                <a:solidFill>
                  <a:srgbClr val="C0792B"/>
                </a:solidFill>
                <a:latin typeface="Calibri"/>
              </a:rPr>
              <a:t>▸  </a:t>
            </a:r>
            <a:r>
              <a:rPr sz="1450">
                <a:solidFill>
                  <a:srgbClr val="1A2433"/>
                </a:solidFill>
                <a:latin typeface="Calibri"/>
              </a:rPr>
              <a:t>Isish yo'qotishi tokning KVADRATIGA bog'liq (ΔP = 3·I²·R) — kichik tok kamayishi katta tejam beradi.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0" y="4617720"/>
            <a:ext cx="4754880" cy="17830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0" y="4617720"/>
            <a:ext cx="63500" cy="1783080"/>
          </a:xfrm>
          <a:prstGeom prst="rect">
            <a:avLst/>
          </a:prstGeom>
          <a:solidFill>
            <a:srgbClr val="C0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69480" y="4754880"/>
            <a:ext cx="4389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D99B57"/>
                </a:solidFill>
                <a:latin typeface="Calibri"/>
              </a:rPr>
              <a:t>MUAMMO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5102352"/>
            <a:ext cx="43891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DCE5F2"/>
                </a:solidFill>
                <a:latin typeface="Calibri"/>
              </a:rPr>
              <a:t>Obyektda yillik texnik yo'qotish 1760 MVt·s (2,9 %) ni tashkil etadi va uning 68 % dan ortig'i 10 kV bo'g'inga to'g'ri keladi — bu zaxirani miqdoran baholash va kamaytirish zarur.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510528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41506B"/>
                </a:solidFill>
                <a:latin typeface="Calibri"/>
              </a:rPr>
              <a:t>«Vobkent» 110/35/10 kV PS  ·  M.Sh. Muxiddinov  ·  BuxDTU,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510528"/>
            <a:ext cx="12801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41506B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4450"/>
          </a:xfrm>
          <a:prstGeom prst="rect">
            <a:avLst/>
          </a:prstGeom>
          <a:solidFill>
            <a:srgbClr val="C0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63500" cy="548640"/>
          </a:xfrm>
          <a:prstGeom prst="rect">
            <a:avLst/>
          </a:prstGeom>
          <a:solidFill>
            <a:srgbClr val="C0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0116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D99B57"/>
                </a:solidFill>
                <a:latin typeface="Calibri"/>
              </a:rPr>
              <a:t>KIRISH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75488"/>
            <a:ext cx="10789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Calibri"/>
              </a:rPr>
              <a:t>Tadqiqotning maqsadi va vazifalari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71600"/>
            <a:ext cx="4572000" cy="48463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371600"/>
            <a:ext cx="4572000" cy="621792"/>
          </a:xfrm>
          <a:prstGeom prst="rect">
            <a:avLst/>
          </a:prstGeom>
          <a:solidFill>
            <a:srgbClr val="C0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463040"/>
            <a:ext cx="4114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Calibri"/>
              </a:rPr>
              <a:t>MAQSAD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411480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0" i="0">
                <a:solidFill>
                  <a:srgbClr val="E6EDF7"/>
                </a:solidFill>
                <a:latin typeface="Calibri"/>
              </a:rPr>
              <a:t>Elektr ta'minoti tizimlarida energiya sarfini kamaytirish texnologiyalarini nazariy va amaliy jihatdan tadqiq etish hamda «Vobkent» podstansiyasi uchun texnik va iqtisodiy jihatdan asoslangan tavsiyalar ishlab chiqish.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137160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B2545"/>
                </a:solidFill>
                <a:latin typeface="Calibri"/>
              </a:rPr>
              <a:t>VAZIFALAR</a:t>
            </a:r>
          </a:p>
        </p:txBody>
      </p:sp>
      <p:sp>
        <p:nvSpPr>
          <p:cNvPr id="12" name="Oval 11"/>
          <p:cNvSpPr/>
          <p:nvPr/>
        </p:nvSpPr>
        <p:spPr>
          <a:xfrm>
            <a:off x="5577840" y="1874519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187451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856231"/>
            <a:ext cx="5486400" cy="722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350" b="0" i="0">
                <a:solidFill>
                  <a:srgbClr val="1A2433"/>
                </a:solidFill>
                <a:latin typeface="Calibri"/>
              </a:rPr>
              <a:t>Yo'qotish turlari va yuzaga kelish mexanizmlarini nazariy o'rganish;</a:t>
            </a:r>
          </a:p>
        </p:txBody>
      </p:sp>
      <p:sp>
        <p:nvSpPr>
          <p:cNvPr id="15" name="Oval 14"/>
          <p:cNvSpPr/>
          <p:nvPr/>
        </p:nvSpPr>
        <p:spPr>
          <a:xfrm>
            <a:off x="5577840" y="2596895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77840" y="2596895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578607"/>
            <a:ext cx="5486400" cy="722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350" b="0" i="0">
                <a:solidFill>
                  <a:srgbClr val="1A2433"/>
                </a:solidFill>
                <a:latin typeface="Calibri"/>
              </a:rPr>
              <a:t>Yuklama, kuchlanish pasayishi, transformator va fider yo'qotishlarini hisoblash;</a:t>
            </a:r>
          </a:p>
        </p:txBody>
      </p:sp>
      <p:sp>
        <p:nvSpPr>
          <p:cNvPr id="18" name="Oval 17"/>
          <p:cNvSpPr/>
          <p:nvPr/>
        </p:nvSpPr>
        <p:spPr>
          <a:xfrm>
            <a:off x="5577840" y="3319271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77840" y="3319271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3300983"/>
            <a:ext cx="5486400" cy="722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350" b="0" i="0">
                <a:solidFill>
                  <a:srgbClr val="1A2433"/>
                </a:solidFill>
                <a:latin typeface="Calibri"/>
              </a:rPr>
              <a:t>Garmonik buzilishlar va elektr energiyasi sifatini baholash;</a:t>
            </a:r>
          </a:p>
        </p:txBody>
      </p:sp>
      <p:sp>
        <p:nvSpPr>
          <p:cNvPr id="21" name="Oval 20"/>
          <p:cNvSpPr/>
          <p:nvPr/>
        </p:nvSpPr>
        <p:spPr>
          <a:xfrm>
            <a:off x="5577840" y="404164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77840" y="404164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023359"/>
            <a:ext cx="5486400" cy="722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350" b="0" i="0">
                <a:solidFill>
                  <a:srgbClr val="1A2433"/>
                </a:solidFill>
                <a:latin typeface="Calibri"/>
              </a:rPr>
              <a:t>Kamaytirish texnologiyalari ishlash tamoyilini tahlil qilish;</a:t>
            </a:r>
          </a:p>
        </p:txBody>
      </p:sp>
      <p:sp>
        <p:nvSpPr>
          <p:cNvPr id="24" name="Oval 23"/>
          <p:cNvSpPr/>
          <p:nvPr/>
        </p:nvSpPr>
        <p:spPr>
          <a:xfrm>
            <a:off x="5577840" y="4764023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0" y="4764023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0760" y="4745735"/>
            <a:ext cx="5486400" cy="722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350" b="0" i="0">
                <a:solidFill>
                  <a:srgbClr val="1A2433"/>
                </a:solidFill>
                <a:latin typeface="Calibri"/>
              </a:rPr>
              <a:t>Choralar texnik samarasi va iqtisodiy qaytimini hisoblash;</a:t>
            </a:r>
          </a:p>
        </p:txBody>
      </p:sp>
      <p:sp>
        <p:nvSpPr>
          <p:cNvPr id="27" name="Oval 26"/>
          <p:cNvSpPr/>
          <p:nvPr/>
        </p:nvSpPr>
        <p:spPr>
          <a:xfrm>
            <a:off x="5577840" y="5486399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77840" y="548639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5468111"/>
            <a:ext cx="5486400" cy="722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350" b="0" i="0">
                <a:solidFill>
                  <a:srgbClr val="1A2433"/>
                </a:solidFill>
                <a:latin typeface="Calibri"/>
              </a:rPr>
              <a:t>Elektr xavfsizligi bo'yicha amaliy tavsiyalar berish.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510528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41506B"/>
                </a:solidFill>
                <a:latin typeface="Calibri"/>
              </a:rPr>
              <a:t>«Vobkent» 110/35/10 kV PS  ·  M.Sh. Muxiddinov  ·  BuxDTU,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6510528"/>
            <a:ext cx="12801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41506B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4450"/>
          </a:xfrm>
          <a:prstGeom prst="rect">
            <a:avLst/>
          </a:prstGeom>
          <a:solidFill>
            <a:srgbClr val="C0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63500" cy="548640"/>
          </a:xfrm>
          <a:prstGeom prst="rect">
            <a:avLst/>
          </a:prstGeom>
          <a:solidFill>
            <a:srgbClr val="C0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0116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D99B57"/>
                </a:solidFill>
                <a:latin typeface="Calibri"/>
              </a:rPr>
              <a:t>AKADEMIK ASOS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75488"/>
            <a:ext cx="10789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Calibri"/>
              </a:rPr>
              <a:t>Ilmiy yangilik va himoyaga olib chiqiladigan holatlar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71600"/>
            <a:ext cx="5349240" cy="4846320"/>
          </a:xfrm>
          <a:prstGeom prst="rect">
            <a:avLst/>
          </a:prstGeom>
          <a:solidFill>
            <a:srgbClr val="E7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371600"/>
            <a:ext cx="76200" cy="4846320"/>
          </a:xfrm>
          <a:prstGeom prst="rect">
            <a:avLst/>
          </a:prstGeom>
          <a:solidFill>
            <a:srgbClr val="C0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087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0792B"/>
                </a:solidFill>
                <a:latin typeface="Calibri"/>
              </a:rPr>
              <a:t>ILMIY YANGILIK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011680"/>
            <a:ext cx="4937760" cy="4023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C0792B"/>
                </a:solidFill>
                <a:latin typeface="Calibri"/>
              </a:rPr>
              <a:t>▸  </a:t>
            </a:r>
            <a:r>
              <a:rPr sz="1400">
                <a:solidFill>
                  <a:srgbClr val="1A2433"/>
                </a:solidFill>
                <a:latin typeface="Calibri"/>
              </a:rPr>
              <a:t>Bir necha kamaytirish texnologiyasi (kompensatsiya, ChOQ, AMI, SCADA) yagona obyekt uchun yagona metodika asosida qiyosiy baholangan.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C0792B"/>
                </a:solidFill>
                <a:latin typeface="Calibri"/>
              </a:rPr>
              <a:t>▸  </a:t>
            </a:r>
            <a:r>
              <a:rPr sz="1400">
                <a:solidFill>
                  <a:srgbClr val="1A2433"/>
                </a:solidFill>
                <a:latin typeface="Calibri"/>
              </a:rPr>
              <a:t>Choralar texnik samara va investitsiya qaytimi bo'yicha ustuvorlik tartibida joylashtirilgan.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C0792B"/>
                </a:solidFill>
                <a:latin typeface="Calibri"/>
              </a:rPr>
              <a:t>▸  </a:t>
            </a:r>
            <a:r>
              <a:rPr sz="1400">
                <a:solidFill>
                  <a:srgbClr val="1A2433"/>
                </a:solidFill>
                <a:latin typeface="Calibri"/>
              </a:rPr>
              <a:t>Ishlab chiqilgan metodika viloyatdagi o'xshash podstansiyalarga tatbiq etish uchun yaroqli.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371600"/>
            <a:ext cx="5349240" cy="48463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371600"/>
            <a:ext cx="76200" cy="48463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5087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A9D8F"/>
                </a:solidFill>
                <a:latin typeface="Calibri"/>
              </a:rPr>
              <a:t>HIMOYAGA OLIB CHIQILADIGAN HOLATLAR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011680"/>
            <a:ext cx="4937760" cy="4023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2A9D8F"/>
                </a:solidFill>
                <a:latin typeface="Calibri"/>
              </a:rPr>
              <a:t>▸  </a:t>
            </a:r>
            <a:r>
              <a:rPr sz="1400">
                <a:solidFill>
                  <a:srgbClr val="E6EDF7"/>
                </a:solidFill>
                <a:latin typeface="Calibri"/>
              </a:rPr>
              <a:t>Yo'qotishlar balansi va 10 kV bo'g'indagi asosiy zaxiralarning miqdoriy bahosi.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2A9D8F"/>
                </a:solidFill>
                <a:latin typeface="Calibri"/>
              </a:rPr>
              <a:t>▸  </a:t>
            </a:r>
            <a:r>
              <a:rPr sz="1400">
                <a:solidFill>
                  <a:srgbClr val="E6EDF7"/>
                </a:solidFill>
                <a:latin typeface="Calibri"/>
              </a:rPr>
              <a:t>cos φ ni 0,95 ga ko'tarish orqali yuklama yo'qotishini ≈ 20 % kamaytirish.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2A9D8F"/>
                </a:solidFill>
                <a:latin typeface="Calibri"/>
              </a:rPr>
              <a:t>▸  </a:t>
            </a:r>
            <a:r>
              <a:rPr sz="1400">
                <a:solidFill>
                  <a:srgbClr val="E6EDF7"/>
                </a:solidFill>
                <a:latin typeface="Calibri"/>
              </a:rPr>
              <a:t>Transformator rejimini optimallashtirishning xarajatsiz samarasi (≈ 153 MVt·s/yil).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2A9D8F"/>
                </a:solidFill>
                <a:latin typeface="Calibri"/>
              </a:rPr>
              <a:t>▸  </a:t>
            </a:r>
            <a:r>
              <a:rPr sz="1400">
                <a:solidFill>
                  <a:srgbClr val="E6EDF7"/>
                </a:solidFill>
                <a:latin typeface="Calibri"/>
              </a:rPr>
              <a:t>Choralar majmuasining iqtisodiy asoslanganligi (NPV &gt; 0).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510528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41506B"/>
                </a:solidFill>
                <a:latin typeface="Calibri"/>
              </a:rPr>
              <a:t>«Vobkent» 110/35/10 kV PS  ·  M.Sh. Muxiddinov  ·  BuxDTU,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510528"/>
            <a:ext cx="12801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41506B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4450"/>
          </a:xfrm>
          <a:prstGeom prst="rect">
            <a:avLst/>
          </a:prstGeom>
          <a:solidFill>
            <a:srgbClr val="C0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63500" cy="548640"/>
          </a:xfrm>
          <a:prstGeom prst="rect">
            <a:avLst/>
          </a:prstGeom>
          <a:solidFill>
            <a:srgbClr val="C0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0116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D99B57"/>
                </a:solidFill>
                <a:latin typeface="Calibri"/>
              </a:rPr>
              <a:t>TADQIQOT OBYEKTI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75488"/>
            <a:ext cx="10789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Calibri"/>
              </a:rPr>
              <a:t>«Vobkent» 110/35/10 kV podstansiyasi</a:t>
            </a:r>
          </a:p>
        </p:txBody>
      </p:sp>
      <p:pic>
        <p:nvPicPr>
          <p:cNvPr id="7" name="Picture 6" descr="00_s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19844"/>
            <a:ext cx="7955279" cy="508699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412480" y="1371600"/>
            <a:ext cx="3154680" cy="1078992"/>
          </a:xfrm>
          <a:prstGeom prst="rect">
            <a:avLst/>
          </a:prstGeom>
          <a:solidFill>
            <a:srgbClr val="E7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0" y="1371600"/>
            <a:ext cx="63500" cy="107899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0" y="1481328"/>
            <a:ext cx="28620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B2545"/>
                </a:solidFill>
                <a:latin typeface="Calibri"/>
              </a:rPr>
              <a:t>110/35/10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993392"/>
            <a:ext cx="28620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41506B"/>
                </a:solidFill>
                <a:latin typeface="Calibri"/>
              </a:rPr>
              <a:t>kV kuchlanish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0" y="2651760"/>
            <a:ext cx="3154680" cy="1078992"/>
          </a:xfrm>
          <a:prstGeom prst="rect">
            <a:avLst/>
          </a:prstGeom>
          <a:solidFill>
            <a:srgbClr val="E7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80" y="2651760"/>
            <a:ext cx="63500" cy="1078992"/>
          </a:xfrm>
          <a:prstGeom prst="rect">
            <a:avLst/>
          </a:prstGeom>
          <a:solidFill>
            <a:srgbClr val="C0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0" y="2761488"/>
            <a:ext cx="28620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B2545"/>
                </a:solidFill>
                <a:latin typeface="Calibri"/>
              </a:rPr>
              <a:t>25 000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3273552"/>
            <a:ext cx="28620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41506B"/>
                </a:solidFill>
                <a:latin typeface="Calibri"/>
              </a:rPr>
              <a:t>kVA transformator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0" y="3931920"/>
            <a:ext cx="3154680" cy="1078992"/>
          </a:xfrm>
          <a:prstGeom prst="rect">
            <a:avLst/>
          </a:prstGeom>
          <a:solidFill>
            <a:srgbClr val="E7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12480" y="3931920"/>
            <a:ext cx="63500" cy="107899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4041648"/>
            <a:ext cx="28620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B2545"/>
                </a:solidFill>
                <a:latin typeface="Calibri"/>
              </a:rPr>
              <a:t>8 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4553712"/>
            <a:ext cx="28620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41506B"/>
                </a:solidFill>
                <a:latin typeface="Calibri"/>
              </a:rPr>
              <a:t>10 kV fider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0" y="5212080"/>
            <a:ext cx="3154680" cy="1078992"/>
          </a:xfrm>
          <a:prstGeom prst="rect">
            <a:avLst/>
          </a:prstGeom>
          <a:solidFill>
            <a:srgbClr val="E7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12480" y="5212080"/>
            <a:ext cx="63500" cy="1078992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0" y="5321808"/>
            <a:ext cx="28620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B2545"/>
                </a:solidFill>
                <a:latin typeface="Calibri"/>
              </a:rPr>
              <a:t>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5833872"/>
            <a:ext cx="28620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41506B"/>
                </a:solidFill>
                <a:latin typeface="Calibri"/>
              </a:rPr>
              <a:t>GVt·s yillik energiya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510528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41506B"/>
                </a:solidFill>
                <a:latin typeface="Calibri"/>
              </a:rPr>
              <a:t>«Vobkent» 110/35/10 kV PS  ·  M.Sh. Muxiddinov  ·  BuxDTU,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6510528"/>
            <a:ext cx="12801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41506B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4450"/>
          </a:xfrm>
          <a:prstGeom prst="rect">
            <a:avLst/>
          </a:prstGeom>
          <a:solidFill>
            <a:srgbClr val="C0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63500" cy="548640"/>
          </a:xfrm>
          <a:prstGeom prst="rect">
            <a:avLst/>
          </a:prstGeom>
          <a:solidFill>
            <a:srgbClr val="C0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0116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D99B57"/>
                </a:solidFill>
                <a:latin typeface="Calibri"/>
              </a:rPr>
              <a:t>METODOLOGIYA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75488"/>
            <a:ext cx="10789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Calibri"/>
              </a:rPr>
              <a:t>Tadqiqot usullari va asosiy hisob formulalari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5029200" cy="4846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C0792B"/>
                </a:solidFill>
                <a:latin typeface="Calibri"/>
              </a:rPr>
              <a:t>▸  </a:t>
            </a:r>
            <a:r>
              <a:rPr sz="1500">
                <a:solidFill>
                  <a:srgbClr val="1A2433"/>
                </a:solidFill>
                <a:latin typeface="Calibri"/>
              </a:rPr>
              <a:t>Tahliliy usul — yo'qotishlarni elementlar bo'yicha hisoblash;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C0792B"/>
                </a:solidFill>
                <a:latin typeface="Calibri"/>
              </a:rPr>
              <a:t>▸  </a:t>
            </a:r>
            <a:r>
              <a:rPr sz="1500">
                <a:solidFill>
                  <a:srgbClr val="1A2433"/>
                </a:solidFill>
                <a:latin typeface="Calibri"/>
              </a:rPr>
              <a:t>Statistik usul — yuklama grafigi va mavsumiy taqsimot tahlili;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C0792B"/>
                </a:solidFill>
                <a:latin typeface="Calibri"/>
              </a:rPr>
              <a:t>▸  </a:t>
            </a:r>
            <a:r>
              <a:rPr sz="1500">
                <a:solidFill>
                  <a:srgbClr val="1A2433"/>
                </a:solidFill>
                <a:latin typeface="Calibri"/>
              </a:rPr>
              <a:t>Qiyosiy usul — texnologiyalarni yagona mezon asosida solishtirish;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C0792B"/>
                </a:solidFill>
                <a:latin typeface="Calibri"/>
              </a:rPr>
              <a:t>▸  </a:t>
            </a:r>
            <a:r>
              <a:rPr sz="1500">
                <a:solidFill>
                  <a:srgbClr val="1A2433"/>
                </a:solidFill>
                <a:latin typeface="Calibri"/>
              </a:rPr>
              <a:t>Texnik-iqtisodiy baholash — NPV va qaytish muddati hisobi;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C0792B"/>
                </a:solidFill>
                <a:latin typeface="Calibri"/>
              </a:rPr>
              <a:t>▸  </a:t>
            </a:r>
            <a:r>
              <a:rPr sz="1500">
                <a:solidFill>
                  <a:srgbClr val="1A2433"/>
                </a:solidFill>
                <a:latin typeface="Calibri"/>
              </a:rPr>
              <a:t>Me'yoriy hujjatlar: GOST 32144, GOST 14209, PUE talablari.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97880" y="1371600"/>
            <a:ext cx="5669280" cy="48463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150876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D99B57"/>
                </a:solidFill>
                <a:latin typeface="Calibri"/>
              </a:rPr>
              <a:t>ASOSIY HISOB FORMULALARI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1993392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DB2D4"/>
                </a:solidFill>
                <a:latin typeface="Calibri"/>
              </a:rPr>
              <a:t>Quvvat yo'qotishi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1993392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Calibri"/>
              </a:rPr>
              <a:t>ΔP = 3 · I² · 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670048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DB2D4"/>
                </a:solidFill>
                <a:latin typeface="Calibri"/>
              </a:rPr>
              <a:t>Kuchlanish pasayishi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670048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Calibri"/>
              </a:rPr>
              <a:t>ΔU = (P·R + Q·X) / 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3346704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DB2D4"/>
                </a:solidFill>
                <a:latin typeface="Calibri"/>
              </a:rPr>
              <a:t>Yo'qotishlar vaqti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3346704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Calibri"/>
              </a:rPr>
              <a:t>τ = (0,124 + Tₘₐₓ/10⁴)² · 8760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4023360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DB2D4"/>
                </a:solidFill>
                <a:latin typeface="Calibri"/>
              </a:rPr>
              <a:t>Kompensatsiya quvvati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4023360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Calibri"/>
              </a:rPr>
              <a:t>Q_k = P · (tan φ₁ − tan φ₂)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4700016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DB2D4"/>
                </a:solidFill>
                <a:latin typeface="Calibri"/>
              </a:rPr>
              <a:t>Garmonik buzilish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4700016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Calibri"/>
              </a:rPr>
              <a:t>THD = √(ΣUₙ²) / U₁ · 100 %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5376672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DB2D4"/>
                </a:solidFill>
                <a:latin typeface="Calibri"/>
              </a:rPr>
              <a:t>Sof joriy qiymat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5376672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Calibri"/>
              </a:rPr>
              <a:t>NPV = Σ E_y/(1+r)ᵗ − 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10528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41506B"/>
                </a:solidFill>
                <a:latin typeface="Calibri"/>
              </a:rPr>
              <a:t>«Vobkent» 110/35/10 kV PS  ·  M.Sh. Muxiddinov  ·  BuxDTU,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510528"/>
            <a:ext cx="12801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41506B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4450"/>
          </a:xfrm>
          <a:prstGeom prst="rect">
            <a:avLst/>
          </a:prstGeom>
          <a:solidFill>
            <a:srgbClr val="C0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63500" cy="548640"/>
          </a:xfrm>
          <a:prstGeom prst="rect">
            <a:avLst/>
          </a:prstGeom>
          <a:solidFill>
            <a:srgbClr val="C0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0116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D99B57"/>
                </a:solidFill>
                <a:latin typeface="Calibri"/>
              </a:rPr>
              <a:t>II BOB · TAHLIL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75488"/>
            <a:ext cx="10789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Calibri"/>
              </a:rPr>
              <a:t>Yuklama rejimi va sutkalik grafik</a:t>
            </a:r>
          </a:p>
        </p:txBody>
      </p:sp>
      <p:pic>
        <p:nvPicPr>
          <p:cNvPr id="7" name="Picture 6" descr="01_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43100"/>
            <a:ext cx="7680960" cy="38404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366760" y="1417320"/>
            <a:ext cx="3200400" cy="1078992"/>
          </a:xfrm>
          <a:prstGeom prst="rect">
            <a:avLst/>
          </a:prstGeom>
          <a:solidFill>
            <a:srgbClr val="E7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366760" y="1417320"/>
            <a:ext cx="63500" cy="1078992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49640" y="1527048"/>
            <a:ext cx="29077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B2545"/>
                </a:solidFill>
                <a:latin typeface="Calibri"/>
              </a:rPr>
              <a:t>12,0 MVt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2039112"/>
            <a:ext cx="29077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41506B"/>
                </a:solidFill>
                <a:latin typeface="Calibri"/>
              </a:rPr>
              <a:t>Maksimal quvvat Pₘₐₓ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2606040"/>
            <a:ext cx="3200400" cy="1078992"/>
          </a:xfrm>
          <a:prstGeom prst="rect">
            <a:avLst/>
          </a:prstGeom>
          <a:solidFill>
            <a:srgbClr val="E7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66760" y="2606040"/>
            <a:ext cx="63500" cy="1078992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9640" y="2715768"/>
            <a:ext cx="29077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B2545"/>
                </a:solidFill>
                <a:latin typeface="Calibri"/>
              </a:rPr>
              <a:t>9,05 MVt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3227832"/>
            <a:ext cx="29077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41506B"/>
                </a:solidFill>
                <a:latin typeface="Calibri"/>
              </a:rPr>
              <a:t>O'rtacha quvvat Pₒ'ʳ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66760" y="3794760"/>
            <a:ext cx="3200400" cy="1078992"/>
          </a:xfrm>
          <a:prstGeom prst="rect">
            <a:avLst/>
          </a:prstGeom>
          <a:solidFill>
            <a:srgbClr val="E7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66760" y="3794760"/>
            <a:ext cx="63500" cy="107899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9640" y="3904488"/>
            <a:ext cx="29077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B2545"/>
                </a:solidFill>
                <a:latin typeface="Calibri"/>
              </a:rPr>
              <a:t>0,75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4416552"/>
            <a:ext cx="29077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41506B"/>
                </a:solidFill>
                <a:latin typeface="Calibri"/>
              </a:rPr>
              <a:t>To'ldirilganlik koeff. k_t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66760" y="4983480"/>
            <a:ext cx="3200400" cy="1078992"/>
          </a:xfrm>
          <a:prstGeom prst="rect">
            <a:avLst/>
          </a:prstGeom>
          <a:solidFill>
            <a:srgbClr val="E7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66760" y="4983480"/>
            <a:ext cx="63500" cy="107899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9640" y="5093208"/>
            <a:ext cx="29077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B2545"/>
                </a:solidFill>
                <a:latin typeface="Calibri"/>
              </a:rPr>
              <a:t>60 GVt·s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5605272"/>
            <a:ext cx="29077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41506B"/>
                </a:solidFill>
                <a:latin typeface="Calibri"/>
              </a:rPr>
              <a:t>Yillik energiya W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510528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41506B"/>
                </a:solidFill>
                <a:latin typeface="Calibri"/>
              </a:rPr>
              <a:t>«Vobkent» 110/35/10 kV PS  ·  M.Sh. Muxiddinov  ·  BuxDTU,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6510528"/>
            <a:ext cx="12801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41506B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4450"/>
          </a:xfrm>
          <a:prstGeom prst="rect">
            <a:avLst/>
          </a:prstGeom>
          <a:solidFill>
            <a:srgbClr val="C0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63500" cy="548640"/>
          </a:xfrm>
          <a:prstGeom prst="rect">
            <a:avLst/>
          </a:prstGeom>
          <a:solidFill>
            <a:srgbClr val="C0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0116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D99B57"/>
                </a:solidFill>
                <a:latin typeface="Calibri"/>
              </a:rPr>
              <a:t>II BOB · TAHLIL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75488"/>
            <a:ext cx="10789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Calibri"/>
              </a:rPr>
              <a:t>Transformator yo'qotishlari va rejim optimizatsiyasi</a:t>
            </a:r>
          </a:p>
        </p:txBody>
      </p:sp>
      <p:pic>
        <p:nvPicPr>
          <p:cNvPr id="7" name="Picture 6" descr="09_transfor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99053"/>
            <a:ext cx="6400800" cy="3602692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5029200"/>
          <a:ext cx="6309360" cy="13898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12414"/>
                <a:gridCol w="1261872"/>
                <a:gridCol w="173507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Ko'rsatkich</a:t>
                      </a:r>
                    </a:p>
                  </a:txBody>
                  <a:tcPr marL="73152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Belgi</a:t>
                      </a:r>
                    </a:p>
                  </a:txBody>
                  <a:tcPr marL="73152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Qiymat</a:t>
                      </a:r>
                    </a:p>
                  </a:txBody>
                  <a:tcPr marL="73152" marR="54864" marT="18288" marB="18288" anchor="ctr">
                    <a:solidFill>
                      <a:srgbClr val="0B2545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0B2545"/>
                          </a:solidFill>
                          <a:latin typeface="Calibri"/>
                        </a:rPr>
                        <a:t>Nominal quvvat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A2433"/>
                          </a:solidFill>
                          <a:latin typeface="Calibri"/>
                        </a:rPr>
                        <a:t>Sₙₒₘ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A2433"/>
                          </a:solidFill>
                          <a:latin typeface="Calibri"/>
                        </a:rPr>
                        <a:t>25 000 kVA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0B2545"/>
                          </a:solidFill>
                          <a:latin typeface="Calibri"/>
                        </a:rPr>
                        <a:t>Salt yurish yo'qotishi</a:t>
                      </a:r>
                    </a:p>
                  </a:txBody>
                  <a:tcPr marL="73152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A2433"/>
                          </a:solidFill>
                          <a:latin typeface="Calibri"/>
                        </a:rPr>
                        <a:t>ΔPₓₓ</a:t>
                      </a:r>
                    </a:p>
                  </a:txBody>
                  <a:tcPr marL="73152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A2433"/>
                          </a:solidFill>
                          <a:latin typeface="Calibri"/>
                        </a:rPr>
                        <a:t>25 kVt</a:t>
                      </a:r>
                    </a:p>
                  </a:txBody>
                  <a:tcPr marL="73152" marR="54864" marT="18288" marB="18288" anchor="ctr">
                    <a:solidFill>
                      <a:srgbClr val="F1F5FB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0B2545"/>
                          </a:solidFill>
                          <a:latin typeface="Calibri"/>
                        </a:rPr>
                        <a:t>Qisqa tutashuv yo'qotishi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A2433"/>
                          </a:solidFill>
                          <a:latin typeface="Calibri"/>
                        </a:rPr>
                        <a:t>ΔP_qt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A2433"/>
                          </a:solidFill>
                          <a:latin typeface="Calibri"/>
                        </a:rPr>
                        <a:t>120 kVt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0B2545"/>
                          </a:solidFill>
                          <a:latin typeface="Calibri"/>
                        </a:rPr>
                        <a:t>Qisqa tutashuv kuchlanishi</a:t>
                      </a:r>
                    </a:p>
                  </a:txBody>
                  <a:tcPr marL="73152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A2433"/>
                          </a:solidFill>
                          <a:latin typeface="Calibri"/>
                        </a:rPr>
                        <a:t>U_qt</a:t>
                      </a:r>
                    </a:p>
                  </a:txBody>
                  <a:tcPr marL="73152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A2433"/>
                          </a:solidFill>
                          <a:latin typeface="Calibri"/>
                        </a:rPr>
                        <a:t>10,5 %</a:t>
                      </a:r>
                    </a:p>
                  </a:txBody>
                  <a:tcPr marL="73152" marR="54864" marT="18288" marB="18288" anchor="ctr">
                    <a:solidFill>
                      <a:srgbClr val="F1F5FB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086600" y="1417320"/>
            <a:ext cx="4480560" cy="47091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86600" y="1417320"/>
            <a:ext cx="63500" cy="47091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0" y="1572768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E7D32"/>
                </a:solidFill>
                <a:latin typeface="Calibri"/>
              </a:rPr>
              <a:t>ASOSIY NATIJA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011680"/>
            <a:ext cx="4069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E6EDF7"/>
                </a:solidFill>
                <a:latin typeface="Calibri"/>
              </a:rPr>
              <a:t>Bitta transformatorda ishlash (ikkitasi o'rniga) yillik yo'qotishni 503 → 350 MVt·s ga kamaytiradi.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3611880"/>
            <a:ext cx="4023360" cy="1097280"/>
          </a:xfrm>
          <a:prstGeom prst="rect">
            <a:avLst/>
          </a:prstGeom>
          <a:solidFill>
            <a:srgbClr val="C0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79" y="3730752"/>
            <a:ext cx="3657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≈ 153 MVt·s/yil tejam</a:t>
            </a:r>
          </a:p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QO'SHIMCHA INVESTITSIYASIZ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4892040"/>
            <a:ext cx="4069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9DB2D4"/>
                </a:solidFill>
                <a:latin typeface="Calibri"/>
              </a:rPr>
              <a:t>Transformator yillik yo'qotishi: 349,6 MVt·s</a:t>
            </a:r>
          </a:p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9DB2D4"/>
                </a:solidFill>
                <a:latin typeface="Calibri"/>
              </a:rPr>
              <a:t>(salt yurish 219 + yuklama 131).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10528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41506B"/>
                </a:solidFill>
                <a:latin typeface="Calibri"/>
              </a:rPr>
              <a:t>«Vobkent» 110/35/10 kV PS  ·  M.Sh. Muxiddinov  ·  BuxDTU,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510528"/>
            <a:ext cx="12801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41506B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4450"/>
          </a:xfrm>
          <a:prstGeom prst="rect">
            <a:avLst/>
          </a:prstGeom>
          <a:solidFill>
            <a:srgbClr val="C0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63500" cy="548640"/>
          </a:xfrm>
          <a:prstGeom prst="rect">
            <a:avLst/>
          </a:prstGeom>
          <a:solidFill>
            <a:srgbClr val="C0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0116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D99B57"/>
                </a:solidFill>
                <a:latin typeface="Calibri"/>
              </a:rPr>
              <a:t>II BOB · TAHLIL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75488"/>
            <a:ext cx="10789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Calibri"/>
              </a:rPr>
              <a:t>10 kV fiderlar bo'yicha yo'qotishlar hisobi</a:t>
            </a:r>
          </a:p>
        </p:txBody>
      </p:sp>
      <p:pic>
        <p:nvPicPr>
          <p:cNvPr id="7" name="Picture 6" descr="03_fee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597" y="1325880"/>
            <a:ext cx="6304885" cy="315468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4572000"/>
          <a:ext cx="6583676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52356"/>
                <a:gridCol w="1012873"/>
                <a:gridCol w="1012873"/>
                <a:gridCol w="1012873"/>
                <a:gridCol w="1392701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Fider</a:t>
                      </a:r>
                    </a:p>
                  </a:txBody>
                  <a:tcPr marL="73152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L, km</a:t>
                      </a:r>
                    </a:p>
                  </a:txBody>
                  <a:tcPr marL="73152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S, mm²</a:t>
                      </a:r>
                    </a:p>
                  </a:txBody>
                  <a:tcPr marL="73152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ΔU, %</a:t>
                      </a:r>
                    </a:p>
                  </a:txBody>
                  <a:tcPr marL="73152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ΔW, MVt·s</a:t>
                      </a:r>
                    </a:p>
                  </a:txBody>
                  <a:tcPr marL="73152" marR="54864" marT="18288" marB="18288" anchor="ctr">
                    <a:solidFill>
                      <a:srgbClr val="0B2545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0B2545"/>
                          </a:solidFill>
                          <a:latin typeface="Calibri"/>
                        </a:rPr>
                        <a:t>F-2 turmush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A2433"/>
                          </a:solidFill>
                          <a:latin typeface="Calibri"/>
                        </a:rPr>
                        <a:t>3,1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A2433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A2433"/>
                          </a:solidFill>
                          <a:latin typeface="Calibri"/>
                        </a:rPr>
                        <a:t>2,08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A2433"/>
                          </a:solidFill>
                          <a:latin typeface="Calibri"/>
                        </a:rPr>
                        <a:t>153,4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0B2545"/>
                          </a:solidFill>
                          <a:latin typeface="Calibri"/>
                        </a:rPr>
                        <a:t>F-4 qishloq-1</a:t>
                      </a:r>
                    </a:p>
                  </a:txBody>
                  <a:tcPr marL="73152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A2433"/>
                          </a:solidFill>
                          <a:latin typeface="Calibri"/>
                        </a:rPr>
                        <a:t>5,2</a:t>
                      </a:r>
                    </a:p>
                  </a:txBody>
                  <a:tcPr marL="73152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A2433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marL="73152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A2433"/>
                          </a:solidFill>
                          <a:latin typeface="Calibri"/>
                        </a:rPr>
                        <a:t>2,98</a:t>
                      </a:r>
                    </a:p>
                  </a:txBody>
                  <a:tcPr marL="73152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A2433"/>
                          </a:solidFill>
                          <a:latin typeface="Calibri"/>
                        </a:rPr>
                        <a:t>154,0</a:t>
                      </a:r>
                    </a:p>
                  </a:txBody>
                  <a:tcPr marL="73152" marR="54864" marT="18288" marB="18288" anchor="ctr">
                    <a:solidFill>
                      <a:srgbClr val="F1F5FB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0B2545"/>
                          </a:solidFill>
                          <a:latin typeface="Calibri"/>
                        </a:rPr>
                        <a:t>F-5 qishloq-2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A2433"/>
                          </a:solidFill>
                          <a:latin typeface="Calibri"/>
                        </a:rPr>
                        <a:t>6,0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A2433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A2433"/>
                          </a:solidFill>
                          <a:latin typeface="Calibri"/>
                        </a:rPr>
                        <a:t>2,90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A2433"/>
                          </a:solidFill>
                          <a:latin typeface="Calibri"/>
                        </a:rPr>
                        <a:t>130,6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Calibri"/>
                        </a:rPr>
                        <a:t>Jami (8 fider)</a:t>
                      </a:r>
                    </a:p>
                  </a:txBody>
                  <a:tcPr marL="73152" marR="54864" marT="18288" marB="18288" anchor="ctr">
                    <a:solidFill>
                      <a:srgbClr val="E7ED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1A24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54864" marT="18288" marB="18288" anchor="ctr">
                    <a:solidFill>
                      <a:srgbClr val="E7ED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1A24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54864" marT="18288" marB="18288" anchor="ctr">
                    <a:solidFill>
                      <a:srgbClr val="E7ED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1A24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54864" marT="18288" marB="18288" anchor="ctr">
                    <a:solidFill>
                      <a:srgbClr val="E7ED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1A2433"/>
                          </a:solidFill>
                          <a:latin typeface="Calibri"/>
                        </a:rPr>
                        <a:t>865,6</a:t>
                      </a:r>
                    </a:p>
                  </a:txBody>
                  <a:tcPr marL="73152" marR="54864" marT="18288" marB="18288" anchor="ctr">
                    <a:solidFill>
                      <a:srgbClr val="E7EDF6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269480" y="1417320"/>
            <a:ext cx="4297680" cy="47091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79" y="1572768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D99B57"/>
                </a:solidFill>
                <a:latin typeface="Calibri"/>
              </a:rPr>
              <a:t>TAHLIL XULOSASI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011680"/>
            <a:ext cx="3886200" cy="4023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9B57"/>
                </a:solidFill>
                <a:latin typeface="Calibri"/>
              </a:rPr>
              <a:t>▸  </a:t>
            </a:r>
            <a:r>
              <a:rPr sz="1350">
                <a:solidFill>
                  <a:srgbClr val="E6EDF7"/>
                </a:solidFill>
                <a:latin typeface="Calibri"/>
              </a:rPr>
              <a:t>Fider liniyalaridagi yillik yo'qotish — 865,6 MVt·s (umumiy yo'qotishning ≈ 49 %).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9B57"/>
                </a:solidFill>
                <a:latin typeface="Calibri"/>
              </a:rPr>
              <a:t>▸  </a:t>
            </a:r>
            <a:r>
              <a:rPr sz="1350">
                <a:solidFill>
                  <a:srgbClr val="E6EDF7"/>
                </a:solidFill>
                <a:latin typeface="Calibri"/>
              </a:rPr>
              <a:t>Eng katta yo'qotish F-2, F-4, F-5 — uzun qishloq fiderlarida.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9B57"/>
                </a:solidFill>
                <a:latin typeface="Calibri"/>
              </a:rPr>
              <a:t>▸  </a:t>
            </a:r>
            <a:r>
              <a:rPr sz="1350">
                <a:solidFill>
                  <a:srgbClr val="E6EDF7"/>
                </a:solidFill>
                <a:latin typeface="Calibri"/>
              </a:rPr>
              <a:t>Sabab: katta uzunlik (5–6 km) va kichik en kesim (70 mm²).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9B57"/>
                </a:solidFill>
                <a:latin typeface="Calibri"/>
              </a:rPr>
              <a:t>▸  </a:t>
            </a:r>
            <a:r>
              <a:rPr sz="1350">
                <a:solidFill>
                  <a:srgbClr val="E6EDF7"/>
                </a:solidFill>
                <a:latin typeface="Calibri"/>
              </a:rPr>
              <a:t>F-4 da ΔU = 2,98 % — me'yor (≤ 5 %) chegarasiga yaqinlashmoqda.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10528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41506B"/>
                </a:solidFill>
                <a:latin typeface="Calibri"/>
              </a:rPr>
              <a:t>«Vobkent» 110/35/10 kV PS  ·  M.Sh. Muxiddinov  ·  BuxDTU,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10528"/>
            <a:ext cx="12801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41506B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4450"/>
          </a:xfrm>
          <a:prstGeom prst="rect">
            <a:avLst/>
          </a:prstGeom>
          <a:solidFill>
            <a:srgbClr val="C0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63500" cy="548640"/>
          </a:xfrm>
          <a:prstGeom prst="rect">
            <a:avLst/>
          </a:prstGeom>
          <a:solidFill>
            <a:srgbClr val="C0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0116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D99B57"/>
                </a:solidFill>
                <a:latin typeface="Calibri"/>
              </a:rPr>
              <a:t>II BOB · SIFAT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75488"/>
            <a:ext cx="10789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Calibri"/>
              </a:rPr>
              <a:t>Quvvat koeffitsienti va garmonik buzilishlar</a:t>
            </a:r>
          </a:p>
        </p:txBody>
      </p:sp>
      <p:pic>
        <p:nvPicPr>
          <p:cNvPr id="7" name="Picture 6" descr="04_t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25980"/>
            <a:ext cx="6858000" cy="3429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43800" y="1417320"/>
            <a:ext cx="4023360" cy="1097280"/>
          </a:xfrm>
          <a:prstGeom prst="rect">
            <a:avLst/>
          </a:prstGeom>
          <a:solidFill>
            <a:srgbClr val="E7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43800" y="1417320"/>
            <a:ext cx="63500" cy="109728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80" y="1527048"/>
            <a:ext cx="37307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B2545"/>
                </a:solidFill>
                <a:latin typeface="Calibri"/>
              </a:rPr>
              <a:t>cos φ = 0,85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80" y="2057400"/>
            <a:ext cx="37307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41506B"/>
                </a:solidFill>
                <a:latin typeface="Calibri"/>
              </a:rPr>
              <a:t>tan φ = 0,62 · Qₘₐₓ = 7440 kVar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43800" y="2697480"/>
            <a:ext cx="4023360" cy="1097280"/>
          </a:xfrm>
          <a:prstGeom prst="rect">
            <a:avLst/>
          </a:prstGeom>
          <a:solidFill>
            <a:srgbClr val="E7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43800" y="2697480"/>
            <a:ext cx="63500" cy="109728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80" y="2807208"/>
            <a:ext cx="37307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B2545"/>
                </a:solidFill>
                <a:latin typeface="Calibri"/>
              </a:rPr>
              <a:t>THD = 8,8 %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80" y="3337560"/>
            <a:ext cx="37307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41506B"/>
                </a:solidFill>
                <a:latin typeface="Calibri"/>
              </a:rPr>
              <a:t>me'yor ≤ 8 % — chegaradan yuqori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43800" y="3977639"/>
            <a:ext cx="4023360" cy="214884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543800" y="3977639"/>
            <a:ext cx="63500" cy="2148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0" y="4114800"/>
            <a:ext cx="3611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A9D8F"/>
                </a:solidFill>
                <a:latin typeface="Calibri"/>
              </a:rPr>
              <a:t>TAVSIYA ETILGAN YECHIM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4526280"/>
            <a:ext cx="36118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E6EDF7"/>
                </a:solidFill>
                <a:latin typeface="Calibri"/>
              </a:rPr>
              <a:t>Kondensator batareyalarini rezonansdan himoyalovchi sozlangan drossel (filtr-reaktor, 7 % yoki 14 %) bilan o'rnatish; passiv garmonik filtrlardan foydalanish.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510528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41506B"/>
                </a:solidFill>
                <a:latin typeface="Calibri"/>
              </a:rPr>
              <a:t>«Vobkent» 110/35/10 kV PS  ·  M.Sh. Muxiddinov  ·  BuxDTU,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510528"/>
            <a:ext cx="12801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41506B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4450"/>
          </a:xfrm>
          <a:prstGeom prst="rect">
            <a:avLst/>
          </a:prstGeom>
          <a:solidFill>
            <a:srgbClr val="C0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63500" cy="548640"/>
          </a:xfrm>
          <a:prstGeom prst="rect">
            <a:avLst/>
          </a:prstGeom>
          <a:solidFill>
            <a:srgbClr val="C0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0116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D99B57"/>
                </a:solidFill>
                <a:latin typeface="Calibri"/>
              </a:rPr>
              <a:t>III BOB · YECHIM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75488"/>
            <a:ext cx="10789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Calibri"/>
              </a:rPr>
              <a:t>Energiya sarfini kamaytirish texnologiyalari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71600"/>
            <a:ext cx="10927080" cy="1115568"/>
          </a:xfrm>
          <a:prstGeom prst="rect">
            <a:avLst/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371600"/>
            <a:ext cx="76200" cy="1115568"/>
          </a:xfrm>
          <a:prstGeom prst="rect">
            <a:avLst/>
          </a:prstGeom>
          <a:solidFill>
            <a:srgbClr val="C0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90472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C0792B"/>
                </a:solidFill>
                <a:latin typeface="Calibri"/>
              </a:rPr>
              <a:t>Reaktiv quvvat kompensatsiyasi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892807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0" i="0">
                <a:solidFill>
                  <a:srgbClr val="1A2433"/>
                </a:solidFill>
                <a:latin typeface="Calibri"/>
              </a:rPr>
              <a:t>UKRM 10,5 kV; 3600 kVar (6×600). cos φ: 0,85→0,95; S: 14,12→12,63 MVA. Tejam ≈ 284 MVt·s/yil.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578608"/>
            <a:ext cx="10927080" cy="1115568"/>
          </a:xfrm>
          <a:prstGeom prst="rect">
            <a:avLst/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578608"/>
            <a:ext cx="76200" cy="11155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69748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A9D8F"/>
                </a:solidFill>
                <a:latin typeface="Calibri"/>
              </a:rPr>
              <a:t>Chastota o'zgartiruvchi qurilma (ChOQ)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099815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0" i="0">
                <a:solidFill>
                  <a:srgbClr val="1A2433"/>
                </a:solidFill>
                <a:latin typeface="Calibri"/>
              </a:rPr>
              <a:t>110 kVt nasos yuritmasi, PID rostlash. Tejam ≈ 180 MVt·s/yil; qaytish ≈ 0,9 yil — eng tez.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785616"/>
            <a:ext cx="10927080" cy="1115568"/>
          </a:xfrm>
          <a:prstGeom prst="rect">
            <a:avLst/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785616"/>
            <a:ext cx="76200" cy="11155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90448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F4E79"/>
                </a:solidFill>
                <a:latin typeface="Calibri"/>
              </a:rPr>
              <a:t>AMI — aqlli hisobga olish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06823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0" i="0">
                <a:solidFill>
                  <a:srgbClr val="1A2433"/>
                </a:solidFill>
                <a:latin typeface="Calibri"/>
              </a:rPr>
              <a:t>Aqlli hisoblagich + konsentrator + MDM. Tijoriy yo'qotishni keskin kamaytiradi: ≈ 1200 MVt·s/yil.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992624"/>
            <a:ext cx="10927080" cy="1115568"/>
          </a:xfrm>
          <a:prstGeom prst="rect">
            <a:avLst/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992624"/>
            <a:ext cx="76200" cy="111556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111496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E7D32"/>
                </a:solidFill>
                <a:latin typeface="Calibri"/>
              </a:rPr>
              <a:t>SCADA / PLC / IoT monitoring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513831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0" i="0">
                <a:solidFill>
                  <a:srgbClr val="1A2433"/>
                </a:solidFill>
                <a:latin typeface="Calibri"/>
              </a:rPr>
              <a:t>Real vaqtda nazorat, masofadan boshqaruv, tarmoqni balanslash. Tejam ≈ 240 MVt·s/yil.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41506B"/>
                </a:solidFill>
                <a:latin typeface="Calibri"/>
              </a:rPr>
              <a:t>«Vobkent» 110/35/10 kV PS  ·  M.Sh. Muxiddinov  ·  BuxDTU,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6510528"/>
            <a:ext cx="12801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41506B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4450"/>
          </a:xfrm>
          <a:prstGeom prst="rect">
            <a:avLst/>
          </a:prstGeom>
          <a:solidFill>
            <a:srgbClr val="C0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63500" cy="548640"/>
          </a:xfrm>
          <a:prstGeom prst="rect">
            <a:avLst/>
          </a:prstGeom>
          <a:solidFill>
            <a:srgbClr val="C0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0116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D99B57"/>
                </a:solidFill>
                <a:latin typeface="Calibri"/>
              </a:rPr>
              <a:t>III BOB · IQTISOD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75488"/>
            <a:ext cx="10789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Calibri"/>
              </a:rPr>
              <a:t>Iqtisodiy samaradorlik: choralar va NPV</a:t>
            </a:r>
          </a:p>
        </p:txBody>
      </p:sp>
      <p:pic>
        <p:nvPicPr>
          <p:cNvPr id="7" name="Picture 6" descr="07_cash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95677"/>
            <a:ext cx="6858000" cy="3426566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4937760"/>
          <a:ext cx="6857998" cy="14447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49681"/>
                <a:gridCol w="1558636"/>
                <a:gridCol w="1558636"/>
                <a:gridCol w="1091045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Chora</a:t>
                      </a:r>
                    </a:p>
                  </a:txBody>
                  <a:tcPr marL="73152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Tejam
MVt·s/yil</a:t>
                      </a:r>
                    </a:p>
                  </a:txBody>
                  <a:tcPr marL="73152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Inv.
mln so'm</a:t>
                      </a:r>
                    </a:p>
                  </a:txBody>
                  <a:tcPr marL="73152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T_q
yil</a:t>
                      </a:r>
                    </a:p>
                  </a:txBody>
                  <a:tcPr marL="73152" marR="54864" marT="18288" marB="18288" anchor="ctr">
                    <a:solidFill>
                      <a:srgbClr val="0B2545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0B2545"/>
                          </a:solidFill>
                          <a:latin typeface="Calibri"/>
                        </a:rPr>
                        <a:t>Reaktiv komp.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433"/>
                          </a:solidFill>
                          <a:latin typeface="Calibri"/>
                        </a:rPr>
                        <a:t>284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433"/>
                          </a:solidFill>
                          <a:latin typeface="Calibri"/>
                        </a:rPr>
                        <a:t>538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433"/>
                          </a:solidFill>
                          <a:latin typeface="Calibri"/>
                        </a:rPr>
                        <a:t>3,1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0B2545"/>
                          </a:solidFill>
                          <a:latin typeface="Calibri"/>
                        </a:rPr>
                        <a:t>ChOQ</a:t>
                      </a:r>
                    </a:p>
                  </a:txBody>
                  <a:tcPr marL="73152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433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L="73152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433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 marL="73152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433"/>
                          </a:solidFill>
                          <a:latin typeface="Calibri"/>
                        </a:rPr>
                        <a:t>0,9</a:t>
                      </a:r>
                    </a:p>
                  </a:txBody>
                  <a:tcPr marL="73152" marR="54864" marT="18288" marB="18288" anchor="ctr">
                    <a:solidFill>
                      <a:srgbClr val="F1F5FB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0B2545"/>
                          </a:solidFill>
                          <a:latin typeface="Calibri"/>
                        </a:rPr>
                        <a:t>AMI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433"/>
                          </a:solidFill>
                          <a:latin typeface="Calibri"/>
                        </a:rPr>
                        <a:t>1200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433"/>
                          </a:solidFill>
                          <a:latin typeface="Calibri"/>
                        </a:rPr>
                        <a:t>1730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433"/>
                          </a:solidFill>
                          <a:latin typeface="Calibri"/>
                        </a:rPr>
                        <a:t>2,4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0B2545"/>
                          </a:solidFill>
                          <a:latin typeface="Calibri"/>
                        </a:rPr>
                        <a:t>SCADA</a:t>
                      </a:r>
                    </a:p>
                  </a:txBody>
                  <a:tcPr marL="73152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433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marL="73152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433"/>
                          </a:solidFill>
                          <a:latin typeface="Calibri"/>
                        </a:rPr>
                        <a:t>640</a:t>
                      </a:r>
                    </a:p>
                  </a:txBody>
                  <a:tcPr marL="73152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A2433"/>
                          </a:solidFill>
                          <a:latin typeface="Calibri"/>
                        </a:rPr>
                        <a:t>4,5</a:t>
                      </a:r>
                    </a:p>
                  </a:txBody>
                  <a:tcPr marL="73152" marR="54864" marT="18288" marB="18288" anchor="ctr">
                    <a:solidFill>
                      <a:srgbClr val="F1F5FB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B2545"/>
                          </a:solidFill>
                          <a:latin typeface="Calibri"/>
                        </a:rPr>
                        <a:t>Jami (majmua)</a:t>
                      </a:r>
                    </a:p>
                  </a:txBody>
                  <a:tcPr marL="73152" marR="54864" marT="18288" marB="18288" anchor="ctr">
                    <a:solidFill>
                      <a:srgbClr val="E7ED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A2433"/>
                          </a:solidFill>
                          <a:latin typeface="Calibri"/>
                        </a:rPr>
                        <a:t>1904</a:t>
                      </a:r>
                    </a:p>
                  </a:txBody>
                  <a:tcPr marL="73152" marR="54864" marT="18288" marB="18288" anchor="ctr">
                    <a:solidFill>
                      <a:srgbClr val="E7ED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A2433"/>
                          </a:solidFill>
                          <a:latin typeface="Calibri"/>
                        </a:rPr>
                        <a:t>3003</a:t>
                      </a:r>
                    </a:p>
                  </a:txBody>
                  <a:tcPr marL="73152" marR="54864" marT="18288" marB="18288" anchor="ctr">
                    <a:solidFill>
                      <a:srgbClr val="E7ED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A2433"/>
                          </a:solidFill>
                          <a:latin typeface="Calibri"/>
                        </a:rPr>
                        <a:t>2,6</a:t>
                      </a:r>
                    </a:p>
                  </a:txBody>
                  <a:tcPr marL="73152" marR="54864" marT="18288" marB="18288" anchor="ctr">
                    <a:solidFill>
                      <a:srgbClr val="E7EDF6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543800" y="1417320"/>
            <a:ext cx="4023360" cy="1143000"/>
          </a:xfrm>
          <a:prstGeom prst="rect">
            <a:avLst/>
          </a:prstGeom>
          <a:solidFill>
            <a:srgbClr val="E7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43800" y="1417320"/>
            <a:ext cx="63500" cy="11430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26680" y="1527048"/>
            <a:ext cx="37307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B2545"/>
                </a:solidFill>
                <a:latin typeface="Calibri"/>
              </a:rPr>
              <a:t>≈ 1930 mln so'm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80" y="2103120"/>
            <a:ext cx="37307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41506B"/>
                </a:solidFill>
                <a:latin typeface="Calibri"/>
              </a:rPr>
              <a:t>Majmua NPV (r=15%, 8 yil) → NPV&gt;0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43800" y="2697480"/>
            <a:ext cx="4023360" cy="1143000"/>
          </a:xfrm>
          <a:prstGeom prst="rect">
            <a:avLst/>
          </a:prstGeom>
          <a:solidFill>
            <a:srgbClr val="E7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43800" y="2697480"/>
            <a:ext cx="63500" cy="1143000"/>
          </a:xfrm>
          <a:prstGeom prst="rect">
            <a:avLst/>
          </a:prstGeom>
          <a:solidFill>
            <a:srgbClr val="C0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26680" y="2807208"/>
            <a:ext cx="37307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B2545"/>
                </a:solidFill>
                <a:latin typeface="Calibri"/>
              </a:rPr>
              <a:t>≈ 2,7 yil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80" y="3383280"/>
            <a:ext cx="37307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41506B"/>
                </a:solidFill>
                <a:latin typeface="Calibri"/>
              </a:rPr>
              <a:t>Sof oqim musbatga o'tish muddati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43800" y="3977639"/>
            <a:ext cx="4023360" cy="1143000"/>
          </a:xfrm>
          <a:prstGeom prst="rect">
            <a:avLst/>
          </a:prstGeom>
          <a:solidFill>
            <a:srgbClr val="E7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543800" y="3977639"/>
            <a:ext cx="63500" cy="1143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26680" y="4087367"/>
            <a:ext cx="37307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B2545"/>
                </a:solidFill>
                <a:latin typeface="Calibri"/>
              </a:rPr>
              <a:t>1142 mln so'm/yil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80" y="4663439"/>
            <a:ext cx="37307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41506B"/>
                </a:solidFill>
                <a:latin typeface="Calibri"/>
              </a:rPr>
              <a:t>Majmua yillik pul tejami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43800" y="5257800"/>
            <a:ext cx="4023360" cy="868680"/>
          </a:xfrm>
          <a:prstGeom prst="rect">
            <a:avLst/>
          </a:prstGeom>
          <a:solidFill>
            <a:srgbClr val="E7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79" y="5349240"/>
            <a:ext cx="36576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1A2433"/>
                </a:solidFill>
                <a:latin typeface="Calibri"/>
              </a:rPr>
              <a:t>Tarif oshsa NPV ortadi — loyiha barqaror foydali (sezgirlik tahlili).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41506B"/>
                </a:solidFill>
                <a:latin typeface="Calibri"/>
              </a:rPr>
              <a:t>«Vobkent» 110/35/10 kV PS  ·  M.Sh. Muxiddinov  ·  BuxDTU,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6510528"/>
            <a:ext cx="12801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41506B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4450"/>
          </a:xfrm>
          <a:prstGeom prst="rect">
            <a:avLst/>
          </a:prstGeom>
          <a:solidFill>
            <a:srgbClr val="C0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63500" cy="548640"/>
          </a:xfrm>
          <a:prstGeom prst="rect">
            <a:avLst/>
          </a:prstGeom>
          <a:solidFill>
            <a:srgbClr val="C0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0116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D99B57"/>
                </a:solidFill>
                <a:latin typeface="Calibri"/>
              </a:rPr>
              <a:t>NATIJA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75488"/>
            <a:ext cx="10789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Calibri"/>
              </a:rPr>
              <a:t>Choralardan oldin va keyin: qiyosiy tahlil</a:t>
            </a:r>
          </a:p>
        </p:txBody>
      </p:sp>
      <p:pic>
        <p:nvPicPr>
          <p:cNvPr id="7" name="Picture 6" descr="08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42907"/>
            <a:ext cx="6949440" cy="3395146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89520" y="1417320"/>
          <a:ext cx="3977638" cy="27066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8168"/>
                <a:gridCol w="889735"/>
                <a:gridCol w="889735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Ko'rsatkich</a:t>
                      </a:r>
                    </a:p>
                  </a:txBody>
                  <a:tcPr marL="73152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Gacha</a:t>
                      </a:r>
                    </a:p>
                  </a:txBody>
                  <a:tcPr marL="73152" marR="54864" marT="18288" marB="18288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Keyin</a:t>
                      </a:r>
                    </a:p>
                  </a:txBody>
                  <a:tcPr marL="73152" marR="54864" marT="18288" marB="18288" anchor="ctr">
                    <a:solidFill>
                      <a:srgbClr val="0B254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0B2545"/>
                          </a:solidFill>
                          <a:latin typeface="Calibri"/>
                        </a:rPr>
                        <a:t>Quvvat koeffitsienti cos 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433"/>
                          </a:solidFill>
                          <a:latin typeface="Calibri"/>
                        </a:rPr>
                        <a:t>0,85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433"/>
                          </a:solidFill>
                          <a:latin typeface="Calibri"/>
                        </a:rPr>
                        <a:t>0,95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0B2545"/>
                          </a:solidFill>
                          <a:latin typeface="Calibri"/>
                        </a:rPr>
                        <a:t>To'liq quvvat, MVA</a:t>
                      </a:r>
                    </a:p>
                  </a:txBody>
                  <a:tcPr marL="73152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433"/>
                          </a:solidFill>
                          <a:latin typeface="Calibri"/>
                        </a:rPr>
                        <a:t>14,12</a:t>
                      </a:r>
                    </a:p>
                  </a:txBody>
                  <a:tcPr marL="73152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433"/>
                          </a:solidFill>
                          <a:latin typeface="Calibri"/>
                        </a:rPr>
                        <a:t>12,63</a:t>
                      </a:r>
                    </a:p>
                  </a:txBody>
                  <a:tcPr marL="73152" marR="54864" marT="18288" marB="18288" anchor="ctr">
                    <a:solidFill>
                      <a:srgbClr val="F1F5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0B2545"/>
                          </a:solidFill>
                          <a:latin typeface="Calibri"/>
                        </a:rPr>
                        <a:t>Texnik yo'qotish, MVt·s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433"/>
                          </a:solidFill>
                          <a:latin typeface="Calibri"/>
                        </a:rPr>
                        <a:t>1760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433"/>
                          </a:solidFill>
                          <a:latin typeface="Calibri"/>
                        </a:rPr>
                        <a:t>≈ 1400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0B2545"/>
                          </a:solidFill>
                          <a:latin typeface="Calibri"/>
                        </a:rPr>
                        <a:t>Tijoriy yo'qotish, %</a:t>
                      </a:r>
                    </a:p>
                  </a:txBody>
                  <a:tcPr marL="73152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433"/>
                          </a:solidFill>
                          <a:latin typeface="Calibri"/>
                        </a:rPr>
                        <a:t>≈ 2,0</a:t>
                      </a:r>
                    </a:p>
                  </a:txBody>
                  <a:tcPr marL="73152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433"/>
                          </a:solidFill>
                          <a:latin typeface="Calibri"/>
                        </a:rPr>
                        <a:t>≈ 0,5</a:t>
                      </a:r>
                    </a:p>
                  </a:txBody>
                  <a:tcPr marL="73152" marR="54864" marT="18288" marB="18288" anchor="ctr">
                    <a:solidFill>
                      <a:srgbClr val="F1F5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0B2545"/>
                          </a:solidFill>
                          <a:latin typeface="Calibri"/>
                        </a:rPr>
                        <a:t>Garmonik buzilish THD, 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433"/>
                          </a:solidFill>
                          <a:latin typeface="Calibri"/>
                        </a:rPr>
                        <a:t>8,8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433"/>
                          </a:solidFill>
                          <a:latin typeface="Calibri"/>
                        </a:rPr>
                        <a:t>&lt; 5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0B2545"/>
                          </a:solidFill>
                          <a:latin typeface="Calibri"/>
                        </a:rPr>
                        <a:t>Umumiy yo'qotish, %</a:t>
                      </a:r>
                    </a:p>
                  </a:txBody>
                  <a:tcPr marL="73152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433"/>
                          </a:solidFill>
                          <a:latin typeface="Calibri"/>
                        </a:rPr>
                        <a:t>≈ 5,0</a:t>
                      </a:r>
                    </a:p>
                  </a:txBody>
                  <a:tcPr marL="73152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A2433"/>
                          </a:solidFill>
                          <a:latin typeface="Calibri"/>
                        </a:rPr>
                        <a:t>≈ 3,0</a:t>
                      </a:r>
                    </a:p>
                  </a:txBody>
                  <a:tcPr marL="73152" marR="54864" marT="18288" marB="18288" anchor="ctr">
                    <a:solidFill>
                      <a:srgbClr val="F1F5FB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41506B"/>
                </a:solidFill>
                <a:latin typeface="Calibri"/>
              </a:rPr>
              <a:t>«Vobkent» 110/35/10 kV PS  ·  M.Sh. Muxiddinov  ·  BuxDTU,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10528"/>
            <a:ext cx="12801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41506B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44450"/>
          </a:xfrm>
          <a:prstGeom prst="rect">
            <a:avLst/>
          </a:prstGeom>
          <a:solidFill>
            <a:srgbClr val="C0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63500" cy="548640"/>
          </a:xfrm>
          <a:prstGeom prst="rect">
            <a:avLst/>
          </a:prstGeom>
          <a:solidFill>
            <a:srgbClr val="C0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0116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D99B57"/>
                </a:solidFill>
                <a:latin typeface="Calibri"/>
              </a:rPr>
              <a:t>YAKUN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75488"/>
            <a:ext cx="10789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Calibri"/>
              </a:rPr>
              <a:t>Xulosa va amaliy tavsiyalar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33375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792B"/>
                </a:solidFill>
                <a:latin typeface="Calibri"/>
              </a:rPr>
              <a:t>▸  </a:t>
            </a:r>
            <a:r>
              <a:rPr sz="1500">
                <a:solidFill>
                  <a:srgbClr val="1A2433"/>
                </a:solidFill>
                <a:latin typeface="Calibri"/>
              </a:rPr>
              <a:t>Yo'qotishlar tabiati nazariy asoslandi: ular tok kvadratiga va reaktiv quvvatga bog'liq.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792B"/>
                </a:solidFill>
                <a:latin typeface="Calibri"/>
              </a:rPr>
              <a:t>▸  </a:t>
            </a:r>
            <a:r>
              <a:rPr sz="1500">
                <a:solidFill>
                  <a:srgbClr val="1A2433"/>
                </a:solidFill>
                <a:latin typeface="Calibri"/>
              </a:rPr>
              <a:t>Yillik texnik yo'qotish 1760 MVt·s (2,9 %); 68 % dan ortig'i 10 kV bo'g'inda (F-2/F-4/F-5).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792B"/>
                </a:solidFill>
                <a:latin typeface="Calibri"/>
              </a:rPr>
              <a:t>▸  </a:t>
            </a:r>
            <a:r>
              <a:rPr sz="1500">
                <a:solidFill>
                  <a:srgbClr val="1A2433"/>
                </a:solidFill>
                <a:latin typeface="Calibri"/>
              </a:rPr>
              <a:t>cos φ ni 0,95 ga ko'tarish yuklama yo'qotishini ≈ 20 % (≈ 284 MVt·s) kamaytiradi.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792B"/>
                </a:solidFill>
                <a:latin typeface="Calibri"/>
              </a:rPr>
              <a:t>▸  </a:t>
            </a:r>
            <a:r>
              <a:rPr sz="1500">
                <a:solidFill>
                  <a:srgbClr val="1A2433"/>
                </a:solidFill>
                <a:latin typeface="Calibri"/>
              </a:rPr>
              <a:t>Transformator rejimini optimallashtirish — xarajatsiz ≈ 153 MVt·s/yil tejam.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792B"/>
                </a:solidFill>
                <a:latin typeface="Calibri"/>
              </a:rPr>
              <a:t>▸  </a:t>
            </a:r>
            <a:r>
              <a:rPr sz="1500">
                <a:solidFill>
                  <a:srgbClr val="1A2433"/>
                </a:solidFill>
                <a:latin typeface="Calibri"/>
              </a:rPr>
              <a:t>Choralar qaytishi 0,9–4,5 yil; majmua NPV ≈ 1930 mln so'm → loyiha iqtisodiy asoslangan.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617720"/>
            <a:ext cx="10927080" cy="15087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36592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D99B57"/>
                </a:solidFill>
                <a:latin typeface="Calibri"/>
              </a:rPr>
              <a:t>TAVSIYA ETILGAN JORIY ETISH KETMA-KETLIGI (YO'L XARITASI)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5193792"/>
            <a:ext cx="1874519" cy="77724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193792"/>
            <a:ext cx="16916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1.  Transformator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rejimi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90088" y="5193792"/>
            <a:ext cx="1874519" cy="777240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81528" y="5193792"/>
            <a:ext cx="16916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2.  ChOQ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11496" y="5193792"/>
            <a:ext cx="1874519" cy="777240"/>
          </a:xfrm>
          <a:prstGeom prst="roundRect">
            <a:avLst/>
          </a:prstGeom>
          <a:solidFill>
            <a:srgbClr val="C0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02936" y="5193792"/>
            <a:ext cx="16916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3.  Reaktiv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kompensatsiya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2904" y="5193792"/>
            <a:ext cx="1874519" cy="777240"/>
          </a:xfrm>
          <a:prstGeom prst="round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24344" y="5193792"/>
            <a:ext cx="16916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4.  AMI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54312" y="5193792"/>
            <a:ext cx="1874519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45752" y="5193792"/>
            <a:ext cx="16916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5.  SCADA va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balanslash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510528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41506B"/>
                </a:solidFill>
                <a:latin typeface="Calibri"/>
              </a:rPr>
              <a:t>«Vobkent» 110/35/10 kV PS  ·  M.Sh. Muxiddinov  ·  BuxDTU,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510528"/>
            <a:ext cx="12801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41506B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0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C0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70248" y="3154680"/>
            <a:ext cx="3657600" cy="44450"/>
          </a:xfrm>
          <a:prstGeom prst="rect">
            <a:avLst/>
          </a:prstGeom>
          <a:solidFill>
            <a:srgbClr val="C07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FFFFFF"/>
                </a:solidFill>
                <a:latin typeface="Calibri"/>
              </a:rPr>
              <a:t>E'tiboringiz uchun rahmat!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8328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 i="1">
                <a:solidFill>
                  <a:srgbClr val="D99B57"/>
                </a:solidFill>
                <a:latin typeface="Calibri"/>
              </a:rPr>
              <a:t>Savollaringizga javob berishga tayyorman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0">
                <a:solidFill>
                  <a:srgbClr val="9DB2D4"/>
                </a:solidFill>
                <a:latin typeface="Calibri"/>
              </a:rPr>
              <a:t>Muxiddinov Sherzod Shaxob o'g'li</a:t>
            </a:r>
          </a:p>
          <a:p>
            <a:pPr algn="ctr">
              <a:lnSpc>
                <a:spcPct val="115000"/>
              </a:lnSpc>
            </a:pPr>
            <a:r>
              <a:rPr sz="1250" b="0" i="0">
                <a:solidFill>
                  <a:srgbClr val="9DB2D4"/>
                </a:solidFill>
                <a:latin typeface="Calibri"/>
              </a:rPr>
              <a:t>Ilmiy rahbar: dots. S.Sh. Rustamov  ·  Buxoro davlat texnika universiteti,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